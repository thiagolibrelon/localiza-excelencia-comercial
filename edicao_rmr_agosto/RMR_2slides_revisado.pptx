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Comportamento Challenger</c:v>
                </c:pt>
              </c:strCache>
            </c:strRef>
          </c:tx>
          <c:spPr>
            <a:solidFill>
              <a:srgbClr val="4E7A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E3D49"/>
                    </a:solidFill>
                    <a:latin typeface="Arial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Calcular ROI em tempo real</c:v>
                </c:pt>
                <c:pt idx="1">
                  <c:v>Criar urgência com fato real</c:v>
                </c:pt>
                <c:pt idx="2">
                  <c:v>Usar dado do concorrente</c:v>
                </c:pt>
                <c:pt idx="3">
                  <c:v>Exploração de necessidades</c:v>
                </c:pt>
                <c:pt idx="4">
                  <c:v>Antecipar problema futuro</c:v>
                </c:pt>
                <c:pt idx="5">
                  <c:v>Conectar dor à solução</c:v>
                </c:pt>
                <c:pt idx="6">
                  <c:v>Revelar custo oculto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79</c:v>
                </c:pt>
                <c:pt idx="2">
                  <c:v>91</c:v>
                </c:pt>
                <c:pt idx="3">
                  <c:v>216</c:v>
                </c:pt>
                <c:pt idx="4">
                  <c:v>304</c:v>
                </c:pt>
                <c:pt idx="5">
                  <c:v>388</c:v>
                </c:pt>
                <c:pt idx="6">
                  <c:v>739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5-4511-B89D-DA8B37586E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E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8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Oportunidades perdidas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E3D49"/>
                    </a:solidFill>
                    <a:latin typeface="Arial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Dado estratégico não explorado</c:v>
                </c:pt>
                <c:pt idx="1">
                  <c:v>Churn não detectado</c:v>
                </c:pt>
                <c:pt idx="2">
                  <c:v>Fechamento sem urgência</c:v>
                </c:pt>
                <c:pt idx="3">
                  <c:v>Dor relatada, produto não oferecido</c:v>
                </c:pt>
                <c:pt idx="4">
                  <c:v>Upsell não oferecido</c:v>
                </c:pt>
                <c:pt idx="5">
                  <c:v>Suporte sem pergunta comercial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</c:v>
                </c:pt>
                <c:pt idx="1">
                  <c:v>171</c:v>
                </c:pt>
                <c:pt idx="2">
                  <c:v>522</c:v>
                </c:pt>
                <c:pt idx="3">
                  <c:v>678</c:v>
                </c:pt>
                <c:pt idx="4">
                  <c:v>1065</c:v>
                </c:pt>
                <c:pt idx="5">
                  <c:v>2551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AD-4F72-945F-4A604BB2EE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E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5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320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 das ligações são suporte operacional — e quem fecha segue um padrão treinável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o vendedor faz para fechar um contrato?” — Analisamos as 6.623 ligações válidas* de junho/2026 com IA. Os resultados foram organizados em 2 blocos e 2 hipóteses.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320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</a:t>
            </a:r>
            <a:r>
              <a:rPr lang="en-US" sz="2200" b="1" dirty="0">
                <a:solidFill>
                  <a:srgbClr val="6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na ligação?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5852160" cy="2148840"/>
          </a:xfrm>
          <a:prstGeom prst="roundRect">
            <a:avLst>
              <a:gd name="adj" fmla="val 2553"/>
            </a:avLst>
          </a:prstGeom>
          <a:solidFill>
            <a:srgbClr val="F2F4F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ligação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operacional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0" y="26517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3035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42,6%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56432" y="2331720"/>
            <a:ext cx="0" cy="1737360"/>
          </a:xfrm>
          <a:prstGeom prst="line">
            <a:avLst/>
          </a:prstGeom>
          <a:noFill/>
          <a:ln w="12700">
            <a:solidFill>
              <a:srgbClr val="D5DC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Desfecho da ligação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26517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6517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30358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Interessou mas não fechou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3035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34198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oportunidade comercial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913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ligações classificadas pela IA a partir do conteúdo da conversa.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técnicas o vendedor utilizou?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773168"/>
            <a:ext cx="5852160" cy="1627632"/>
          </a:xfrm>
          <a:prstGeom prst="roundRect">
            <a:avLst>
              <a:gd name="adj" fmla="val 3371"/>
            </a:avLst>
          </a:prstGeom>
          <a:solidFill>
            <a:srgbClr val="F2F4F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custo oculto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4937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um retorno financeiro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53400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Criou urgência com fato real (prazo/preço)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20440" y="53400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Usou dado da concorrência para diferenciar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com compromisso duplo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04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ruim: “Qualquer coisa me chama”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29400" y="18105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29400" y="2121408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6858000" y="2286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COMPROVADA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257860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9281160" y="27249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ligações são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Operacional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0" y="35661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carga operacional não comercial relevante sobre o time de vendas — mais da metade do tempo em ligação não é venda.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4462272"/>
            <a:ext cx="5074920" cy="1938528"/>
          </a:xfrm>
          <a:prstGeom prst="roundRect">
            <a:avLst>
              <a:gd name="adj" fmla="val 2830"/>
            </a:avLst>
          </a:prstGeom>
          <a:solidFill>
            <a:srgbClr val="EAF3D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6858000" y="46268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COMPROVADA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49377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padrão entre as ligações que fecham — e esse comportamento é replicável e treinável.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858000" y="565099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</a:t>
            </a:r>
            <a:r>
              <a:rPr lang="en-US" sz="110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 que conectam a dor do cliente à solução fecham 4x mais (18,6% vs 4,4% — detalhe no próximo slide).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556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Ligações válidas: ligações eletivas para atingimento de meta de visitas diárias · a IA avalia, com base na conversa, se ocorreu o fechamento de contrato.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Informação: INTERNA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08792" y="6400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</a:t>
            </a:r>
            <a:r>
              <a:rPr lang="en-US" sz="1600" b="1" dirty="0">
                <a:solidFill>
                  <a:srgbClr val="6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 que conectam a solução à dor do cliente fecham </a:t>
            </a:r>
            <a:r>
              <a:rPr lang="en-US" sz="22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mais</a:t>
            </a:r>
            <a:r>
              <a:rPr lang="en-US" sz="22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(18,6% vs 4,4%) — e o comportamento é treinável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</a:t>
            </a:r>
            <a:r>
              <a:rPr lang="en-US" sz="2200" b="1" dirty="0">
                <a:solidFill>
                  <a:srgbClr val="6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123444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2E3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ligações   </a:t>
            </a:r>
            <a:r>
              <a:rPr lang="en-US" sz="1100" dirty="0">
                <a:solidFill>
                  <a:srgbClr val="C9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n=6.623 · 5,1% fecham (337)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Conectou a solução à dor?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2971800" cy="548640"/>
          </a:xfrm>
          <a:prstGeom prst="roundRect">
            <a:avLst>
              <a:gd name="adj" fmla="val 8333"/>
            </a:avLst>
          </a:prstGeom>
          <a:solidFill>
            <a:srgbClr val="E4E8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  </a:t>
            </a: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n=6.395 · </a:t>
            </a:r>
            <a:r>
              <a:rPr lang="en-US" sz="11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4,4% fecham (281)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139696"/>
            <a:ext cx="2971800" cy="548640"/>
          </a:xfrm>
          <a:prstGeom prst="roundRect">
            <a:avLst>
              <a:gd name="adj" fmla="val 8333"/>
            </a:avLst>
          </a:prstGeom>
          <a:solidFill>
            <a:srgbClr val="EAF3DF"/>
          </a:solidFill>
          <a:ln w="12700">
            <a:solidFill>
              <a:srgbClr val="6FA43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3657600" y="21396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  </a:t>
            </a: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n=301 · </a:t>
            </a:r>
            <a:r>
              <a:rPr lang="en-US" sz="11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18,6% fecham (56)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1417320" cy="1371600"/>
          </a:xfrm>
          <a:prstGeom prst="roundRect">
            <a:avLst>
              <a:gd name="adj" fmla="val 3333"/>
            </a:avLst>
          </a:prstGeom>
          <a:solidFill>
            <a:srgbClr val="EAF3D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6928" y="2889504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eficiente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382219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n=1.289 · 117 contratos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98064"/>
            <a:ext cx="1417320" cy="1371600"/>
          </a:xfrm>
          <a:prstGeom prst="roundRect">
            <a:avLst>
              <a:gd name="adj" fmla="val 3333"/>
            </a:avLst>
          </a:prstGeom>
          <a:solidFill>
            <a:srgbClr val="FBF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2121408" y="2889504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ineficiente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2140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21408" y="382219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n=1.650 · 42 contratos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0" y="2798064"/>
            <a:ext cx="1417320" cy="1371600"/>
          </a:xfrm>
          <a:prstGeom prst="roundRect">
            <a:avLst>
              <a:gd name="adj" fmla="val 3333"/>
            </a:avLst>
          </a:prstGeom>
          <a:solidFill>
            <a:srgbClr val="2E3D49"/>
          </a:solidFill>
          <a:ln w="19050">
            <a:solidFill>
              <a:srgbClr val="6FA43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767328" y="2889504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eficiente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6732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767328" y="382219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n=228 · 45 contratos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67328" y="2889504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A5D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eficiente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382219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n=228 · 45 contratos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12080" y="2798064"/>
            <a:ext cx="1417320" cy="1371600"/>
          </a:xfrm>
          <a:prstGeom prst="roundRect">
            <a:avLst>
              <a:gd name="adj" fmla="val 3333"/>
            </a:avLst>
          </a:prstGeom>
          <a:solidFill>
            <a:srgbClr val="FBF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321808" y="2889504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ineficiente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21808" y="382219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n=73 · 11 contratos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1417320" cy="1371600"/>
          </a:xfrm>
          <a:prstGeom prst="roundRect">
            <a:avLst>
              <a:gd name="adj" fmla="val 3333"/>
            </a:avLst>
          </a:prstGeom>
          <a:solidFill>
            <a:srgbClr val="E4E8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566928" y="4407408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Challenger, sem OP 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4882896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3,1%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566928" y="5340096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n=3.051 · 94 contratos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0" y="4315968"/>
            <a:ext cx="1417320" cy="1371600"/>
          </a:xfrm>
          <a:prstGeom prst="roundRect">
            <a:avLst>
              <a:gd name="adj" fmla="val 3333"/>
            </a:avLst>
          </a:prstGeom>
          <a:solidFill>
            <a:srgbClr val="FBF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2121408" y="4407408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Challenger, com OP 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21408" y="4882896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8,3%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2121408" y="5340096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n=303 · 25 contratos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0" y="4315968"/>
            <a:ext cx="2971800" cy="1371600"/>
          </a:xfrm>
          <a:prstGeom prst="roundRect">
            <a:avLst>
              <a:gd name="adj" fmla="val 3333"/>
            </a:avLst>
          </a:prstGeom>
          <a:solidFill>
            <a:srgbClr val="EAF3D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3822192" y="4425696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4E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treinável: </a:t>
            </a:r>
            <a:r>
              <a:rPr lang="en-US" sz="1000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dor e apresentar a solução na mesma ligação é o comportamento com a melhor taxa de fechamento.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57790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eficiente    </a:t>
            </a:r>
            <a:r>
              <a:rPr lang="en-US" sz="9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ineficiente    </a:t>
            </a:r>
            <a:r>
              <a:rPr lang="en-US" sz="9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OP: oportunidade clara perdida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03504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Comportamento padrão do time: sem exploração clara em ligações de suporte.   ² Abertura óbvia não explorada — ainda assim, necessidade declarada fecha acima da média.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4944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quem fecha faz (nº de ligações)</a:t>
            </a:r>
            <a:endParaRPr lang="en-US" sz="130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6858000" y="1481328"/>
          <a:ext cx="48920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 40"/>
          <p:cNvSpPr/>
          <p:nvPr/>
        </p:nvSpPr>
        <p:spPr>
          <a:xfrm>
            <a:off x="694944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perdidas (nº de ligações)</a:t>
            </a:r>
            <a:endParaRPr lang="en-US" sz="1300" dirty="0"/>
          </a:p>
        </p:txBody>
      </p:sp>
      <p:graphicFrame>
        <p:nvGraphicFramePr>
          <p:cNvPr id="44" name="Chart 1"/>
          <p:cNvGraphicFramePr/>
          <p:nvPr/>
        </p:nvGraphicFramePr>
        <p:xfrm>
          <a:off x="6858000" y="4187952"/>
          <a:ext cx="48920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Text 41"/>
          <p:cNvSpPr/>
          <p:nvPr/>
        </p:nvSpPr>
        <p:spPr>
          <a:xfrm>
            <a:off x="457200" y="6510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Informação: INTERNA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0908792" y="6400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</a:t>
            </a:r>
            <a:r>
              <a:rPr lang="en-US" sz="1600" b="1" dirty="0">
                <a:solidFill>
                  <a:srgbClr val="6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5ca717-11da-4935-b601-f527b9741f2e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503</Words>
  <Application>Microsoft Office PowerPoint</Application>
  <PresentationFormat>Widescreen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THIAGO DO CARMO LIBRELON ROCHA (EXTERNAL)</cp:lastModifiedBy>
  <cp:revision>2</cp:revision>
  <dcterms:created xsi:type="dcterms:W3CDTF">2026-07-15T02:17:40Z</dcterms:created>
  <dcterms:modified xsi:type="dcterms:W3CDTF">2026-09-03T13:06:35Z</dcterms:modified>
</cp:coreProperties>
</file>