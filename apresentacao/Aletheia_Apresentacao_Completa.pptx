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Ligações</c:v>
                </c:pt>
              </c:strCache>
            </c:strRef>
          </c:tx>
          <c:dPt>
            <c:idx val="0"/>
            <c:spPr>
              <a:solidFill>
                <a:srgbClr val="78DE1F"/>
              </a:solidFill>
            </c:spPr>
          </c:dPt>
          <c:dPt>
            <c:idx val="1"/>
            <c:spPr>
              <a:solidFill>
                <a:srgbClr val="9AA5B4"/>
              </a:solidFill>
            </c:spPr>
          </c:dPt>
          <c:dPt>
            <c:idx val="2"/>
            <c:spPr>
              <a:solidFill>
                <a:srgbClr val="9AA5B4"/>
              </a:solidFill>
            </c:spPr>
          </c:dPt>
          <c:dPt>
            <c:idx val="3"/>
            <c:spPr>
              <a:solidFill>
                <a:srgbClr val="D92020"/>
              </a:solidFill>
            </c:spPr>
          </c:dPt>
          <c:cat>
            <c:strRef>
              <c:f>Sheet1!$A$2:$A$5</c:f>
              <c:strCache>
                <c:ptCount val="4"/>
                <c:pt idx="0">
                  <c:v>ALTO (≥20)</c:v>
                </c:pt>
                <c:pt idx="1">
                  <c:v>MÉDIO (13-19)</c:v>
                </c:pt>
                <c:pt idx="2">
                  <c:v>BAIXO (7-12)</c:v>
                </c:pt>
                <c:pt idx="3">
                  <c:v>SEM POTENCIAL (0-6)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368</c:v>
                </c:pt>
                <c:pt idx="1">
                  <c:v>1502</c:v>
                </c:pt>
                <c:pt idx="2">
                  <c:v>2480</c:v>
                </c:pt>
                <c:pt idx="3">
                  <c:v>2273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00341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Fechou</c:v>
                </c:pt>
              </c:strCache>
            </c:strRef>
          </c:tx>
          <c:spPr>
            <a:solidFill>
              <a:srgbClr val="78DE1F"/>
            </a:solidFill>
          </c:spPr>
          <c:cat>
            <c:strRef>
              <c:f>Sheet1!$A$2:$A$6</c:f>
              <c:strCache>
                <c:ptCount val="5"/>
                <c:pt idx="0">
                  <c:v>B5 Upsell/dor</c:v>
                </c:pt>
                <c:pt idx="1">
                  <c:v>B6 Urgência</c:v>
                </c:pt>
                <c:pt idx="2">
                  <c:v>B1 Diagnóstico</c:v>
                </c:pt>
                <c:pt idx="3">
                  <c:v>B10 Concorrente</c:v>
                </c:pt>
                <c:pt idx="4">
                  <c:v>B8 Proativo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21.3</c:v>
                </c:pt>
                <c:pt idx="1">
                  <c:v>9.0</c:v>
                </c:pt>
                <c:pt idx="2">
                  <c:v>37.1</c:v>
                </c:pt>
                <c:pt idx="3">
                  <c:v>4.5</c:v>
                </c:pt>
                <c:pt idx="4">
                  <c:v>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Interessou, não fechou</c:v>
                </c:pt>
              </c:strCache>
            </c:strRef>
          </c:tx>
          <c:spPr>
            <a:solidFill>
              <a:srgbClr val="9AA5B4"/>
            </a:solidFill>
          </c:spPr>
          <c:cat>
            <c:strRef>
              <c:f>Sheet1!$A$2:$A$6</c:f>
              <c:strCache>
                <c:ptCount val="5"/>
                <c:pt idx="0">
                  <c:v>B5 Upsell/dor</c:v>
                </c:pt>
                <c:pt idx="1">
                  <c:v>B6 Urgência</c:v>
                </c:pt>
                <c:pt idx="2">
                  <c:v>B1 Diagnóstico</c:v>
                </c:pt>
                <c:pt idx="3">
                  <c:v>B10 Concorrente</c:v>
                </c:pt>
                <c:pt idx="4">
                  <c:v>B8 Proativo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13.9</c:v>
                </c:pt>
                <c:pt idx="1">
                  <c:v>6.5</c:v>
                </c:pt>
                <c:pt idx="2">
                  <c:v>49.6</c:v>
                </c:pt>
                <c:pt idx="3">
                  <c:v>17.6</c:v>
                </c:pt>
                <c:pt idx="4">
                  <c:v>21.5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r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3418"/>
                </a:solidFill>
                <a:latin typeface="Calibri"/>
              </a:rPr>
              <a:t>Inteligência Comercial em Ligações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4A4A"/>
                </a:solidFill>
                <a:latin typeface="Calibri"/>
              </a:rPr>
              <a:t>Localiza Frota PJ — Análise de 1.275 Ligações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FAFAF"/>
                </a:solidFill>
                <a:latin typeface="Calibri"/>
              </a:rPr>
              <a:t>Junho–Julho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514600"/>
            <a:ext cx="4572000" cy="0"/>
          </a:xfrm>
          <a:prstGeom prst="line">
            <a:avLst/>
          </a:prstGeom>
          <a:ln w="31750">
            <a:solidFill>
              <a:srgbClr val="78D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O Ponto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Por que este projeto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88720" y="173736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003418"/>
                </a:solidFill>
                <a:latin typeface="Calibri"/>
              </a:rPr>
              <a:t>“De 1.275 ligações gravadas, o que o vendedor faz para fechar um contrato?”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9418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500">
                <a:solidFill>
                  <a:srgbClr val="018444"/>
                </a:solidFill>
                <a:latin typeface="Calibri"/>
              </a:rPr>
              <a:t>•  </a:t>
            </a:r>
            <a:r>
              <a:rPr sz="1500">
                <a:solidFill>
                  <a:srgbClr val="4A4A4A"/>
                </a:solidFill>
                <a:latin typeface="Calibri"/>
              </a:rPr>
              <a:t>Essa é a pergunta central do projeto.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500">
                <a:solidFill>
                  <a:srgbClr val="018444"/>
                </a:solidFill>
                <a:latin typeface="Calibri"/>
              </a:rPr>
              <a:t>•  </a:t>
            </a:r>
            <a:r>
              <a:rPr sz="1500">
                <a:solidFill>
                  <a:srgbClr val="4A4A4A"/>
                </a:solidFill>
                <a:latin typeface="Calibri"/>
              </a:rPr>
              <a:t>Hipótese de trabalho: os melhores vendedores fazem coisas diferentes dos medianos — e isso pode ser ensinado.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500">
                <a:solidFill>
                  <a:srgbClr val="018444"/>
                </a:solidFill>
                <a:latin typeface="Calibri"/>
              </a:rPr>
              <a:t>•  </a:t>
            </a:r>
            <a:r>
              <a:rPr sz="1500">
                <a:solidFill>
                  <a:srgbClr val="4A4A4A"/>
                </a:solidFill>
                <a:latin typeface="Calibri"/>
              </a:rPr>
              <a:t>O problema até hoje: sem análise sistemática, a resposta dependia de percepção gerencial, não de dados.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500">
                <a:solidFill>
                  <a:srgbClr val="018444"/>
                </a:solidFill>
                <a:latin typeface="Calibri"/>
              </a:rPr>
              <a:t>•  </a:t>
            </a:r>
            <a:r>
              <a:rPr sz="1500">
                <a:solidFill>
                  <a:srgbClr val="4A4A4A"/>
                </a:solidFill>
                <a:latin typeface="Calibri"/>
              </a:rPr>
              <a:t>Um gestor acompanha 2-3 ligações por semana. Aqui analisamos 1.275 de uma vez.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2 ·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A 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Escopo da análise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Ligações analisadas (base original, completa)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1.275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Clientes únicos (base original)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1.109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Junho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Fonte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Gravações de chamadas — Localiza Empresas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Formato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Transcrição por Speech-to-Text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931920"/>
            <a:ext cx="10698480" cy="1463040"/>
          </a:xfrm>
          <a:prstGeom prst="rect">
            <a:avLst/>
          </a:prstGeom>
          <a:solidFill>
            <a:srgbClr val="D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/>
            <a:r>
              <a:rPr b="1" sz="1300">
                <a:solidFill>
                  <a:srgbClr val="003418"/>
                </a:solidFill>
                <a:latin typeface="Calibri"/>
              </a:rPr>
              <a:t>Atualização 01/07/2026: </a:t>
            </a:r>
            <a:r>
              <a:rPr sz="1300">
                <a:solidFill>
                  <a:srgbClr val="0B4260"/>
                </a:solidFill>
                <a:latin typeface="Calibri"/>
              </a:rPr>
              <a:t>recebido um novo lote de 5.348 ligações (4.434 clientes), ampliando a base combinada para 6.623 ligações. Scoring automático já rodado nas duas bases. Análise com IA do novo lote em andamento.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3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O Framework de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15 perguntas, organizadas em 5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20" y="1737360"/>
            <a:ext cx="1554480" cy="713232"/>
          </a:xfrm>
          <a:prstGeom prst="rect">
            <a:avLst/>
          </a:prstGeom>
          <a:solidFill>
            <a:srgbClr val="003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CAMADA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37360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3418"/>
                </a:solidFill>
                <a:latin typeface="Calibri"/>
              </a:rPr>
              <a:t>O que aconteceu na ligação?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846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 desfecho e os comportamentos do vendedor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78608"/>
            <a:ext cx="1554480" cy="713232"/>
          </a:xfrm>
          <a:prstGeom prst="rect">
            <a:avLst/>
          </a:prstGeom>
          <a:solidFill>
            <a:srgbClr val="003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CAMADA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78608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3418"/>
                </a:solidFill>
                <a:latin typeface="Calibri"/>
              </a:rPr>
              <a:t>Qual o estado do cliente?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78608"/>
            <a:ext cx="4846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Os problemas e o valor potencial de cada conta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19856"/>
            <a:ext cx="1554480" cy="713232"/>
          </a:xfrm>
          <a:prstGeom prst="rect">
            <a:avLst/>
          </a:prstGeom>
          <a:solidFill>
            <a:srgbClr val="003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CAMADA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19856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3418"/>
                </a:solidFill>
                <a:latin typeface="Calibri"/>
              </a:rPr>
              <a:t>O vendedor usou as técnicas?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19856"/>
            <a:ext cx="4846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6 dimensões de comportamento comercial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61104"/>
            <a:ext cx="1554480" cy="713232"/>
          </a:xfrm>
          <a:prstGeom prst="rect">
            <a:avLst/>
          </a:prstGeom>
          <a:solidFill>
            <a:srgbClr val="003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CAMADA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261104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3418"/>
                </a:solidFill>
                <a:latin typeface="Calibri"/>
              </a:rPr>
              <a:t>O que o mercado está dizendo?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61104"/>
            <a:ext cx="4846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Concorrência e proporção de fala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02352"/>
            <a:ext cx="1554480" cy="713232"/>
          </a:xfrm>
          <a:prstGeom prst="rect">
            <a:avLst/>
          </a:prstGeom>
          <a:solidFill>
            <a:srgbClr val="003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CAMADA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102352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3418"/>
                </a:solidFill>
                <a:latin typeface="Calibri"/>
              </a:rPr>
              <a:t>O que ninguém ainda viu?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102352"/>
            <a:ext cx="4846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Padrões emergentes, diferenças entre vendedores, eventos raros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3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Camada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que aconteceu na ligação?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5394960" cy="4434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P1 — Desfecho e comportamentos do vendedor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Classifica o resultado (fechou / interessado, não fechou / não era venda) e avalia 10 comportamentos com pesos por correlação com fechamento. Score 0-18.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sem saber o desfecho, não há como identificar o que diferencia ligações que fecham.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394960" cy="4434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P2 — Tipo de ligação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Classifica a natureza da chamada: nova venda, renovação, expansão, retenção, suporte operacional etc.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misturar suporte com prospecção no mesmo pool distorce qualquer análise.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3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Camada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Qual o estado do cliente?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5394960" cy="4434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P3 — Problemas recorrentes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Identifica se o cliente relatou problema (plataforma, faturamento, multa, manutenção, sinistro) e se foi resolvido.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problemas não resolvidos aumentam o risco de cancelamento.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394960" cy="4434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P4 — Valor potencial do cliente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Pontua o cliente em 6 dimensões: volume de frota, adimplência, tempo de relacionamento, engajamento, complexidade e potencial de expansão.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permite priorizar esforço comercial nos clientes de maior potencial.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3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Camada 3 (parte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vendedor usou as técnicas?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P5 — Comportamentos Challenger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Revelou custo oculto, demonstrou ROI, criou urgência real, usou dado do concorrente, antecipou problema, descobriu necessidade não declarada.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venda consultiva tem a maior correlação com fechamento em B2B complexo.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P6 — Oportunidades perdidas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Identifica e estima em R$ as oportunidades que existiam mas não foram aproveitadas.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mostra o custo real de cada ligação mal aproveitada — não é opinião, é R$.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P7 — Expansão de portfólio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Mapeia produtos mencionados vs. ofertados. A Localiza tem 12 produtos B2B; a maioria dos vendedores oferta 2-3.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orienta treinamento e script comercial para as janelas não exploradas.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3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Camada 3 (parte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vendedor usou as técnicas?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P8 — Objeções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Classifica o tipo de objeção (preço, prazo, produto, concorrência) e como o vendedor respondeu.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objeção não tratada é venda perdida.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P9 — Abertura e fechamento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Classifica a abertura (contextualizada/relacional/genérica/reativa) e o fechamento (forte/médio/fraco).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o fechamento é o comportamento com maior impacto isolado no resultado.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P10 — Promessas do vendedor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Rastreia cada compromisso assumido (vai enviar, vai ligar, vai resolver) com prazo e risco de não cumprimento.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promessa não cumprida é perda de confiança — gestão preventiva de relacionamento.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3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Camada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que o mercado está dizendo?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5394960" cy="4434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P11 — Inteligência competitiva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Detecta menções a concorrentes (Unidas, Movida, assinatura), frota própria, e se o vendedor aproveitou o sinal.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cada menção de concorrente é uma janela de diferenciação.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394960" cy="4434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P12 — Proporção de fala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Mede quanto o vendedor falou vs. o cliente (turnos e tamanho médio das falas).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quem ouve mais, personaliza mais. Quem personaliza mais, fecha mais.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3 ·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Camada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que ninguém ainda viu?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P13 — Padrões emergentes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Captura comportamentos novos, temas recorrentes sem categoria, sinais fracos de mudança.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os dados às vezes revelam o que a hipótese inicial não incluía.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P14 — Diferenças entre vendedores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Compara 5 dimensões de performance: estrutura, linguagem, relacionamento, comportamento comercial, objeções.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identifica benchmarks reais — não por feeling do gestor, por dado observável.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l"/>
            <a:r>
              <a:rPr b="1" sz="1150">
                <a:solidFill>
                  <a:srgbClr val="003418"/>
                </a:solidFill>
                <a:latin typeface="Calibri"/>
              </a:rPr>
              <a:t>P15 — Eventos raros de alto impacto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4A4A4A"/>
                </a:solidFill>
                <a:latin typeface="Calibri"/>
              </a:rPr>
              <a:t>Detecta eventos em &lt;5% das ligações mas com impacto desproporcional: expansão de frota, risco de cancelamento.</a:t>
            </a:r>
          </a:p>
          <a:p>
            <a:pPr algn="l">
              <a:spcBef>
                <a:spcPts val="300"/>
              </a:spcBef>
            </a:pPr>
            <a:r>
              <a:rPr sz="900" i="1" b="1">
                <a:solidFill>
                  <a:srgbClr val="018444"/>
                </a:solidFill>
                <a:latin typeface="Calibri"/>
              </a:rPr>
              <a:t>Por quê: </a:t>
            </a:r>
            <a:r>
              <a:rPr sz="900" i="1">
                <a:solidFill>
                  <a:srgbClr val="4A4A4A"/>
                </a:solidFill>
                <a:latin typeface="Calibri"/>
              </a:rPr>
              <a:t>esses sinais se perdem no volume sem um sistema de detecção.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4 ·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Onde Queremos Chegar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3 perguntas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828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418"/>
                </a:solidFill>
                <a:latin typeface="Calibri"/>
              </a:rPr>
              <a:t>Pergunta 1 — Diagnóstico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“Qual é o nível atual de performance comercial do time?”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18444"/>
                </a:solidFill>
                <a:latin typeface="Calibri"/>
              </a:rPr>
              <a:t>→ Pontuação por vendedor, distribuição de desfechos, taxa de tentativa comercial por ligação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418"/>
                </a:solidFill>
                <a:latin typeface="Calibri"/>
              </a:rPr>
              <a:t>Pergunta 2 — Causa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“O que diferencia as ligações que fecham das que não fecham?”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959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18444"/>
                </a:solidFill>
                <a:latin typeface="Calibri"/>
              </a:rPr>
              <a:t>→ Quais comportamentos do vendedor correlacionam com desfecho positivo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418"/>
                </a:solidFill>
                <a:latin typeface="Calibri"/>
              </a:rPr>
              <a:t>Pergunta 3 — 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“O que fazer nos próximos 30 dias para aumentar conversão?”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132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18444"/>
                </a:solidFill>
                <a:latin typeface="Calibri"/>
              </a:rPr>
              <a:t>→ Top comportamentos a treinar, clientes para ação imediata, oportunidades não exploradas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5 · RESULTADOS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Distribuição de Potencial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Scoring automático (Python, sem IA) — base combinada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Calibri"/>
              </a:rPr>
              <a:t>Cada ligação recebe pontuação de 0 a 30 (contexto + sinais do cliente + comportamento do vendedor), rodado em &lt;30s sem IA generativa. Apenas 5,6% das 6.623 ligações combinadas têm ALTO potencial — validado entre a base original (6,6%) e o novo lote (5,3%), confirmando que o padrão não é ruído.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418"/>
                </a:solidFill>
                <a:latin typeface="Calibri"/>
              </a:rPr>
              <a:t>Distribuição de Potencial Comercial — 6.623 ligações combinadas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645920" y="2468880"/>
          <a:ext cx="88696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5 · RESULTADOS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Alto Potencial e Ação Imediata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que aparece nas melhores ligações + clientes críticos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234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418"/>
                </a:solidFill>
                <a:latin typeface="Calibri"/>
              </a:rPr>
              <a:t>Comportamentos nas ligações de ALTO potencial (base original, n=84)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5448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28016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Comportamento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Freq.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Criou urgência com fato 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Fez diagnóstico antes de oferecer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Tentou expandir o contrato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Definiu próximo passo com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Identificou cliente em expansão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Perguntou sobre concorrência/frota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Identificou risco de cancelamento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418"/>
                </a:solidFill>
                <a:latin typeface="Calibri"/>
              </a:rPr>
              <a:t>Clientes críticos — ação imediata (base combinada)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155448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237744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Sinal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08208057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29/30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Cancelar + expansão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10845574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29/30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Cancelar + expansão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06821416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29/30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Cancelar + expansão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27247224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29/30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Expansão de frota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10508823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29/30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Expansão de frota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4A4A"/>
                </a:solidFill>
                <a:latin typeface="Calibri"/>
              </a:rPr>
              <a:t>376 ligações com sinal de churn ou expansão de frota identificadas na base combinada (6.623 ligações).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6 · RESULTADOS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O Número Mais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R$28.490/mês em oportunidades não tentadas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2344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44,8% das ligações encerram sem data ("qualquer coisa me chama"). A IA estimou o valor potencial de cada oportunidade perdida com base no contexto da ligação (frota, produto, contrato).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48840"/>
          <a:ext cx="5852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45920"/>
              </a:tblGrid>
              <a:tr h="350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Composição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Valor/mês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OP6 — Upsell óbvio não tentado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R$23.410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OP7 — Churn não detectado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R$3.600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OP1 — Suporte sem pergunta comercial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R$800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Outros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resto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R$28.490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3434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FAFAF"/>
                </a:solidFill>
                <a:latin typeface="Calibri"/>
              </a:rPr>
              <a:t>Estimativa da IA a partir de 1.149 oportunidades — não é receita confirmada/auditada.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418"/>
                </a:solidFill>
                <a:latin typeface="Calibri"/>
              </a:rPr>
              <a:t>Desfecho das 1.275 ligações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155448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05840"/>
                <a:gridCol w="100584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Desfecho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Lig.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Não era venda (suporte)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56,7%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Interessou, não fechou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460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35,8%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Fechou — novo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4,9%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Fechou — upsell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1,1%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Fechou — renovação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0,9%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Sem conteúdo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0,5%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0" y="4434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8444"/>
                </a:solidFill>
                <a:latin typeface="Calibri"/>
              </a:rPr>
              <a:t>Total de fechamentos: 89 (7,0%)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6 · RESULTADOS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O Que Diferencia Quem Fecha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Correlação de comportamentos com fechamento (B1-B10)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  <a:latin typeface="Calibri"/>
              </a:rPr>
              <a:t>B5 (upsell conectado à dor) e B6 (urgência verificável) têm correlação positiva com fechamento. B1, B8 e B10 — comportamentos de pipeline, não de fechamento imediato — mostram correlação negativa.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371600" y="1920240"/>
          <a:ext cx="9418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6 · RESULTADOS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9 Hipóteses (1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que fecha um contrato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00200"/>
            <a:ext cx="36118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H1  </a:t>
            </a:r>
            <a:r>
              <a:rPr b="1" sz="900">
                <a:solidFill>
                  <a:srgbClr val="9AA5B4"/>
                </a:solidFill>
                <a:latin typeface="Calibri"/>
              </a:rPr>
              <a:t>Em validação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A conta da diária vs. mensal converte mais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Vendedor faz o cálculo em voz alta, cliente recalcula. Padrão recorrente, sem amostra controlada ainda.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00200"/>
            <a:ext cx="36118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H2  </a:t>
            </a:r>
            <a:r>
              <a:rPr b="1" sz="900">
                <a:solidFill>
                  <a:srgbClr val="018444"/>
                </a:solidFill>
                <a:latin typeface="Calibri"/>
              </a:rPr>
              <a:t>Confirmada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Fechar sem data é não fechar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FC3 em 44,8%; FC1 (compromisso duplo) só 31,9%; prazo definido apenas 9%.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00200"/>
            <a:ext cx="36118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H3  </a:t>
            </a:r>
            <a:r>
              <a:rPr b="1" sz="900">
                <a:solidFill>
                  <a:srgbClr val="018444"/>
                </a:solidFill>
                <a:latin typeface="Calibri"/>
              </a:rPr>
              <a:t>Confirmada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A plataforma consome o time comercial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Biometria (10+), senha (11+), responsável não encontrado (16+). OP1 em ~60% dos casos.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36118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H4  </a:t>
            </a:r>
            <a:r>
              <a:rPr b="1" sz="900">
                <a:solidFill>
                  <a:srgbClr val="CA8A04"/>
                </a:solidFill>
                <a:latin typeface="Calibri"/>
              </a:rPr>
              <a:t>Revisada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Concorrência protege — mas o timing é tudo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B10 tem correlação NEGATIVA (−13,1pp). Precisa vir antes da decisão. Novo concorrente: Carro Zero.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977639"/>
            <a:ext cx="36118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H5  </a:t>
            </a:r>
            <a:r>
              <a:rPr b="1" sz="900">
                <a:solidFill>
                  <a:srgbClr val="018444"/>
                </a:solidFill>
                <a:latin typeface="Calibri"/>
              </a:rPr>
              <a:t>Confirmada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57% das ligações são suporte puro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728 de 1.275 (56,7%) = não era venda. 30,2% da base com score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6 · RESULTADOS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9 Hipóteses (2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que fecha um contrato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00200"/>
            <a:ext cx="548640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H6  </a:t>
            </a:r>
            <a:r>
              <a:rPr b="1" sz="900">
                <a:solidFill>
                  <a:srgbClr val="5B21B6"/>
                </a:solidFill>
                <a:latin typeface="Calibri"/>
              </a:rPr>
              <a:t>Nova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Localiza Pesados é invisível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Cliente com caminhões nunca recebeu oferta. Quantos dos 1.109 clientes têm frota mista?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600200"/>
            <a:ext cx="548640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H7  </a:t>
            </a:r>
            <a:r>
              <a:rPr b="1" sz="900">
                <a:solidFill>
                  <a:srgbClr val="5B21B6"/>
                </a:solidFill>
                <a:latin typeface="Calibri"/>
              </a:rPr>
              <a:t>Nova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Biometria é vazamento de receita mensurável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10% das ligações em suporte de plataforma = ~10 vendas perdidas/semana, de forma silenciosa.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548640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H8  </a:t>
            </a:r>
            <a:r>
              <a:rPr b="1" sz="900">
                <a:solidFill>
                  <a:srgbClr val="5B21B6"/>
                </a:solidFill>
                <a:latin typeface="Calibri"/>
              </a:rPr>
              <a:t>Nova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Referral nunca é pedido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OP4 sistemático nos 23 batches. A abertura existe; a pergunta nunca é feita.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977639"/>
            <a:ext cx="548640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b="1" sz="1200">
                <a:solidFill>
                  <a:srgbClr val="003418"/>
                </a:solidFill>
                <a:latin typeface="Calibri"/>
              </a:rPr>
              <a:t>H9  </a:t>
            </a:r>
            <a:r>
              <a:rPr b="1" sz="900">
                <a:solidFill>
                  <a:srgbClr val="5B21B6"/>
                </a:solidFill>
                <a:latin typeface="Calibri"/>
              </a:rPr>
              <a:t>Nova</a:t>
            </a:r>
          </a:p>
          <a:p>
            <a:pPr algn="l">
              <a:spcBef>
                <a:spcPts val="200"/>
              </a:spcBef>
            </a:pPr>
            <a:r>
              <a:rPr b="1" sz="1000">
                <a:solidFill>
                  <a:srgbClr val="4A4A4A"/>
                </a:solidFill>
                <a:latin typeface="Calibri"/>
              </a:rPr>
              <a:t>WhatsApp virou o pseudo-fechamento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4A4A4A"/>
                </a:solidFill>
                <a:latin typeface="Calibri"/>
              </a:rPr>
              <a:t>PM2 = 56,2% de todas as promessas, quase 100% sem prazo. Pipeline gerenciado pela memória do vendedor.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6 · RESULTADOS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Novo Lote em Processamento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5.348 ligações recebidas em 01/07/2026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737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300">
                <a:solidFill>
                  <a:srgbClr val="018444"/>
                </a:solidFill>
                <a:latin typeface="Calibri"/>
              </a:rPr>
              <a:t>•  </a:t>
            </a:r>
            <a:r>
              <a:rPr b="1" sz="1300">
                <a:solidFill>
                  <a:srgbClr val="4A4A4A"/>
                </a:solidFill>
                <a:latin typeface="Calibri"/>
              </a:rPr>
              <a:t>Scoring automático: </a:t>
            </a:r>
            <a:r>
              <a:rPr sz="1300">
                <a:solidFill>
                  <a:srgbClr val="4A4A4A"/>
                </a:solidFill>
                <a:latin typeface="Calibri"/>
              </a:rPr>
              <a:t>completo. Validou a distribuição de potencial da base original (seção 5).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300">
                <a:solidFill>
                  <a:srgbClr val="018444"/>
                </a:solidFill>
                <a:latin typeface="Calibri"/>
              </a:rPr>
              <a:t>•  </a:t>
            </a:r>
            <a:r>
              <a:rPr b="1" sz="1300">
                <a:solidFill>
                  <a:srgbClr val="4A4A4A"/>
                </a:solidFill>
                <a:latin typeface="Calibri"/>
              </a:rPr>
              <a:t>Análise via IA (desfecho, Challenger, R$): </a:t>
            </a:r>
            <a:r>
              <a:rPr sz="1300">
                <a:solidFill>
                  <a:srgbClr val="4A4A4A"/>
                </a:solidFill>
                <a:latin typeface="Calibri"/>
              </a:rPr>
              <a:t>em andamento, rodando no free tier do Gemini (cota diária limitada).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300">
                <a:solidFill>
                  <a:srgbClr val="018444"/>
                </a:solidFill>
                <a:latin typeface="Calibri"/>
              </a:rPr>
              <a:t>•  </a:t>
            </a:r>
            <a:r>
              <a:rPr b="1" sz="1300">
                <a:solidFill>
                  <a:srgbClr val="4A4A4A"/>
                </a:solidFill>
                <a:latin typeface="Calibri"/>
              </a:rPr>
              <a:t>Prioridade: </a:t>
            </a:r>
            <a:r>
              <a:rPr sz="1300">
                <a:solidFill>
                  <a:srgbClr val="4A4A4A"/>
                </a:solidFill>
                <a:latin typeface="Calibri"/>
              </a:rPr>
              <a:t>P1_P2 (desfecho + B1-B10) primeiro, depois P5_P6 (Challenger), depois P9_P10 (abertura/fechamento).</a:t>
            </a:r>
          </a:p>
          <a:p>
            <a:pPr>
              <a:lnSpc>
                <a:spcPct val="140000"/>
              </a:lnSpc>
              <a:spcAft>
                <a:spcPts val="1400"/>
              </a:spcAft>
            </a:pPr>
            <a:r>
              <a:rPr sz="1300">
                <a:solidFill>
                  <a:srgbClr val="018444"/>
                </a:solidFill>
                <a:latin typeface="Calibri"/>
              </a:rPr>
              <a:t>•  </a:t>
            </a:r>
            <a:r>
              <a:rPr b="1" sz="1300">
                <a:solidFill>
                  <a:srgbClr val="4A4A4A"/>
                </a:solidFill>
                <a:latin typeface="Calibri"/>
              </a:rPr>
              <a:t>Previsão: </a:t>
            </a:r>
            <a:r>
              <a:rPr sz="1300">
                <a:solidFill>
                  <a:srgbClr val="4A4A4A"/>
                </a:solidFill>
                <a:latin typeface="Calibri"/>
              </a:rPr>
              <a:t>P1_P2 completo por volta de 05-07/07/2026; demais grupos seguem conforme a cota permitir.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10698480" cy="118872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/>
            <a:r>
              <a:rPr b="1" sz="1250">
                <a:solidFill>
                  <a:srgbClr val="713F12"/>
                </a:solidFill>
                <a:latin typeface="Calibri"/>
              </a:rPr>
              <a:t>Importante: </a:t>
            </a:r>
            <a:r>
              <a:rPr sz="1250">
                <a:solidFill>
                  <a:srgbClr val="713F12"/>
                </a:solidFill>
                <a:latin typeface="Calibri"/>
              </a:rPr>
              <a:t>os números de desfecho, hipóteses e R$28.490/mês apresentados neste documento ainda se referem apenas à base original de 1.275 ligações. Serão atualizados quando o novo lote terminar.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8444"/>
                </a:solidFill>
                <a:latin typeface="Calibri"/>
              </a:rPr>
              <a:t>7 · PLANO DE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418"/>
                </a:solidFill>
                <a:latin typeface="Calibri"/>
              </a:rPr>
              <a:t>Prioridades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O que fazer com esses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18444"/>
                </a:solidFill>
                <a:latin typeface="Calibri"/>
              </a:rPr>
              <a:t>Aletheia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A4A4A"/>
                </a:solidFill>
                <a:latin typeface="Calibri"/>
              </a:rPr>
              <a:t>RAC · Inteligência Comercial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45920"/>
                <a:gridCol w="5029200"/>
              </a:tblGrid>
              <a:tr h="4846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 esperado</a:t>
                      </a:r>
                    </a:p>
                  </a:txBody>
                  <a:tcPr anchor="ctr">
                    <a:solidFill>
                      <a:srgbClr val="00341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Ligar para os 5 clientes críticos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Hoje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Retenção ou captura de expansão imediata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Escalar biometria para produto/operações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Esta semana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Libera ~10% da capacidade comercial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Treinar CH1 — revelar custo oculto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 semanas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+2,5pp em B6 — mecanismo de urgência com evidência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Inserir pergunta comercial em suporte (OP1)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 semanas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~60% sem sondagem — melhora tem impacto imediato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Treinar fechamento com data (OP3)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 semanas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FC3 de 44,8% para meta abaixo de 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Inserir pedido de referral (OP4)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 semanas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Leads qualificados sem custo, hoje esquecido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Treinar B5 — upsell conectado à 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 semanas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+7,4pp — maior diferencial identificado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Script de sondagem de frota pesada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 semanas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Abertura de mercado nos 1.109 clientes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Concluir análise IA do novo lote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Em andamento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Dobra a amostra, valida hipóteses em escala maior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FAFAF"/>
                </a:solidFill>
                <a:latin typeface="Calibri"/>
              </a:rPr>
              <a:t>Classificação da Informação: INTERNA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