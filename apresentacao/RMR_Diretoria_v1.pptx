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Não ler o slide — dizer o título como pergunta e passar rápido para o gancho.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Não abrir com metodologia. Ler o número, pausar, depois a segunda frase. Deixa a plateia curiosa antes de explicar os 56,7%.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2-3 min. Uma frase de escala por item, sem abrir o framework de 15 perguntas. Se perguntarem do método, tem documento completo à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Transição. 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Ler os 3 números. Frisar: 56,7% é suporte/senha/biometria/onboarding — não é ligação de venda perdida, é ligação que nunca foi de venda.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2-3 min. Nome do vendedor oculto de propósito (exemplo negativo). Também vale citar rapidamente: 16+ clientes num único bloco nem conseguiram falar com o responsável pelo contrato — aparece como 'chamada realizada', mas não teve conversa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Frase de fechamento da seção — dita devagar. Desarma defensividade antes de entrar em comportamento na Hipótese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FC3 domina o time (44,8%). FC1 (compromisso duplo, o mais forte) aparece em 31,9% — mas prazo definido dos DOIS lados (o padrão-ouro) é só 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Nome do vendedor oculto (exemplo negativo). O caso Carro Zero é o gancho de risco financeiro real — usar para conectar com a Hipótese 3 em seguida.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Essa é a virada de chave mais barata da apresentação — não exige treinamento longo, exige disciplina de uma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Abertura contextualizada sozinha fecha quase igual à taxa base (3,9% vs 7,0% geral). Abertura + Challenger forte + upsell conectado à dor juntos: 28,6% — quase 4x. Citar honestamente o tamanho da amostra do combo (n=28) se perguntarem: é a maior taxa entre as combinações com leitura confiável.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Nome do vendedor mantido — comportamento positivo, reconhecimento em vez de constrangimento.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B5 é o maior diferencial isolado — mas o slide anterior já mostrou que combinado com abertura+challenger ele multiplica, não só soma.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1-2 min. Slide-resumo — se alguém só lembrar de um slide, é este. Volta explicitamente à pergunta do diretor.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Termina em ação, não em dado. Os 5 clientes críticos e os códigos completos estão no documento de apoio.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2-3 min + buffer de perguntas. Fecha em visão, não em dado. Se perguntarem por que só 3 hipóteses: há mais 7 no documento completo (H1, H3, H4, H6-H9) — essa é a versão para alinhar antes da apresentação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A78D6"/>
                </a:solidFill>
                <a:latin typeface="Segoe UI"/>
              </a:rPr>
              <a:t>PROJETO ALETHEIA RAC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0B0B0B"/>
                </a:solidFill>
                <a:latin typeface="Segoe UI"/>
              </a:rPr>
              <a:t>O que o nosso vendedor faz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0B0B0B"/>
                </a:solidFill>
                <a:latin typeface="Segoe UI"/>
              </a:rPr>
              <a:t>para gerar uma venda?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2514E"/>
                </a:solidFill>
                <a:latin typeface="Segoe UI"/>
              </a:rPr>
              <a:t>Inteligência Comercial em Ligações B2B · Frota PJ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898781"/>
                </a:solidFill>
                <a:latin typeface="Segoe UI"/>
              </a:rPr>
              <a:t>RMR · 13/07/2026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160520"/>
            <a:ext cx="548640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O NÚMERO QUE NINGUÉM ESPERA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0" b="1" i="0">
                <a:solidFill>
                  <a:srgbClr val="0CA30C"/>
                </a:solidFill>
                <a:latin typeface="Segoe UI"/>
              </a:rPr>
              <a:t>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05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0B0B0B"/>
                </a:solidFill>
                <a:latin typeface="Segoe UI"/>
              </a:rPr>
              <a:t>das 1.275 ligações analisadas em junho terminaram em contrato fechado.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52514E"/>
                </a:solidFill>
                <a:latin typeface="Segoe UI"/>
              </a:rPr>
              <a:t>E antes de pensar que é o time: mais da metade nem era pra fechar.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CONTEXTO — RÁPIDO, SEM ENTRAR NO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Segoe UI"/>
              </a:rPr>
              <a:t>A escala da 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A78D6"/>
                </a:solidFill>
                <a:latin typeface="Segoe UI"/>
              </a:rPr>
              <a:t>1.275 ligações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286000"/>
            <a:ext cx="7223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2514E"/>
                </a:solidFill>
                <a:latin typeface="Segoe UI"/>
              </a:rPr>
              <a:t>gravadas · 1.109 clientes · junho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A78D6"/>
                </a:solidFill>
                <a:latin typeface="Segoe UI"/>
              </a:rPr>
              <a:t>IA +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154680"/>
            <a:ext cx="7223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2514E"/>
                </a:solidFill>
                <a:latin typeface="Segoe UI"/>
              </a:rPr>
              <a:t>cada conversa analisada por IA (Gemini), cruzada com scoring automático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A78D6"/>
                </a:solidFill>
                <a:latin typeface="Segoe UI"/>
              </a:rPr>
              <a:t>A pergunta central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023360"/>
            <a:ext cx="7223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2514E"/>
                </a:solidFill>
                <a:latin typeface="Segoe UI"/>
              </a:rPr>
              <a:t>“O que o vendedor faz para fechar um contrato?”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9204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A78D6"/>
                </a:solidFill>
                <a:latin typeface="Segoe UI"/>
              </a:rPr>
              <a:t>Amostra em dobro a caminho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892040"/>
            <a:ext cx="7223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2514E"/>
                </a:solidFill>
                <a:latin typeface="Segoe UI"/>
              </a:rPr>
              <a:t>novo lote de 5.348 ligações já entrou e está sendo processado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78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260604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O mercado real é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menor do que parece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406908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E8F7"/>
                </a:solidFill>
                <a:latin typeface="Segoe UI"/>
              </a:rPr>
              <a:t>Antes de julgar comportamento, é preciso medir o esforço certo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DFF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HIPÓTESE 1 · CONFIRMADA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Mais da metade das ligações nunca teve chance de virar venda</a:t>
            </a:r>
          </a:p>
        </p:txBody>
      </p:sp>
      <p:pic>
        <p:nvPicPr>
          <p:cNvPr id="4" name="Picture 3" descr="h5_fun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54" y="2148840"/>
            <a:ext cx="8433786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HIPÓTESE 1 · O QUE APARECE 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B0B0B"/>
                </a:solidFill>
                <a:latin typeface="Segoe UI"/>
              </a:rPr>
              <a:t>Renovação que chegou sozinha — sem nenhuma ação comercial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6858000" cy="3108960"/>
          </a:xfrm>
          <a:prstGeom prst="roundRect">
            <a:avLst>
              <a:gd name="adj" fmla="val 3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228600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“Oi, boa tarde. Tudo bem?”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“Eu queria saber, não sei se era no WhatsApp ou no e-mail,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para eu poder fazer a renovação, né?”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“Ah, sim. Não recebeu? Eu te mandei no e-mail...”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“Tá, eu vou mandar de novo, então, que é o link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de prorrogação do contrato, né?”</a:t>
            </a:r>
          </a:p>
          <a:p>
            <a:pPr algn="l">
              <a:spcBef>
                <a:spcPts val="800"/>
              </a:spcBef>
            </a:pPr>
            <a:r>
              <a:rPr sz="1200" i="0" b="1">
                <a:solidFill>
                  <a:srgbClr val="898781"/>
                </a:solidFill>
                <a:latin typeface="Segoe UI"/>
              </a:rPr>
              <a:t>Cliente 25966050 · 170s · Fechou renovação · Score comercial: 0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73152" cy="3108960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2377440"/>
            <a:ext cx="3657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Segoe UI"/>
              </a:rPr>
              <a:t>O que isso revela: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Segoe UI"/>
              </a:rPr>
              <a:t>O contrato renovou sem nenhum comportamento comercial. O cliente ligou pedindo o link, o vendedor enviou.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Segoe UI"/>
              </a:rPr>
              <a:t>Renova por inércia — e migra por inércia quando o concorrente ligar primeiro com proposta ativa.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HIPÓTESE 1 · POR QUE ISSO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0B0B0B"/>
                </a:solidFill>
                <a:latin typeface="Segoe UI"/>
              </a:rPr>
              <a:t>“Não é que o time é ruim.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0B0B0B"/>
                </a:solidFill>
                <a:latin typeface="Segoe UI"/>
              </a:rPr>
              <a:t>É que estamos medindo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0B0B0B"/>
                </a:solidFill>
                <a:latin typeface="Segoe UI"/>
              </a:rPr>
              <a:t>o esforço errado.”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78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260604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Fechar sem data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é não fechar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406908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E8F7"/>
                </a:solidFill>
                <a:latin typeface="Segoe UI"/>
              </a:rPr>
              <a:t>O comportamento isolado com maior impacto fixável no funil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DFF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HIPÓTESE 2 · CONFIRMADA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O time fecha com convite genérico, não com compromisso</a:t>
            </a:r>
          </a:p>
        </p:txBody>
      </p:sp>
      <p:pic>
        <p:nvPicPr>
          <p:cNvPr id="4" name="Picture 3" descr="h2_fech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099" y="2103120"/>
            <a:ext cx="7463496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829800" y="292608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600" b="1">
                <a:solidFill>
                  <a:srgbClr val="52514E"/>
                </a:solidFill>
                <a:latin typeface="Segoe UI"/>
              </a:rPr>
              <a:t>9%</a:t>
            </a:r>
          </a:p>
          <a:p>
            <a:pPr algn="ctr"/>
            <a:r>
              <a:rPr sz="1250">
                <a:solidFill>
                  <a:srgbClr val="52514E"/>
                </a:solidFill>
                <a:latin typeface="Segoe UI"/>
              </a:rPr>
              <a:t>prazo definido
dos dois lados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HIPÓTESE 2 · O QUE APARECE 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B0B0B"/>
                </a:solidFill>
                <a:latin typeface="Segoe UI"/>
              </a:rPr>
              <a:t>“Qualquer coisa me chama” — sem data, sem próximo passo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6858000" cy="2788920"/>
          </a:xfrm>
          <a:prstGeom prst="roundRect">
            <a:avLst>
              <a:gd name="adj" fmla="val 3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228600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“A gente tem um cadastro aqui da sua empresa que foi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atualizado este ano em janeiro, mas não tivemos ainda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o prazer de recebê-los...”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“E a gente pode manter esse cadastro ativo?” — “Pode.”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“Eu vou te mandar um e-mail, qualquer situação futura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pode nos procurar. Beleza, bom trabalho!”</a:t>
            </a:r>
          </a:p>
          <a:p>
            <a:pPr algn="l">
              <a:spcBef>
                <a:spcPts val="800"/>
              </a:spcBef>
            </a:pPr>
            <a:r>
              <a:rPr sz="1200" i="0" b="1">
                <a:solidFill>
                  <a:srgbClr val="898781"/>
                </a:solidFill>
                <a:latin typeface="Segoe UI"/>
              </a:rPr>
              <a:t>Cliente 26468784 · 66s · Cadastro ativo, sem negócio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73152" cy="27889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2331720"/>
            <a:ext cx="36576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Segoe UI"/>
              </a:rPr>
              <a:t>O problema: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Segoe UI"/>
              </a:rPr>
              <a:t>Sem data, sem compromisso do cliente, sem razão pra ele ligar de volta. O cadastro fica “ativo” indefinidamente.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578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52514E"/>
                </a:solidFill>
                <a:latin typeface="Segoe UI"/>
              </a:rPr>
              <a:t>Caso real: cliente com proposta do concorrente Carro Zero (assinatura, 12 meses). Vendedor enviou contraproposta por WhatsApp e fechou a ligação com “qualquer coisa me chama”. R$ 24.000/ano em jogo — decisão 100% do cliente, sem follow-up estruturado.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HIPÓTESE 2 · O QUE MUDA COM UMA FRASE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Fechamento genérico vs. fechamento com prazo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5120640" cy="3291840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5875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b="1" sz="1400">
                <a:solidFill>
                  <a:srgbClr val="D03B3B"/>
                </a:solidFill>
                <a:latin typeface="Segoe UI"/>
              </a:rPr>
              <a:t>HOJE</a:t>
            </a:r>
          </a:p>
          <a:p>
            <a:pPr>
              <a:spcBef>
                <a:spcPts val="1000"/>
              </a:spcBef>
            </a:pPr>
            <a:r>
              <a:rPr sz="1900" i="1">
                <a:solidFill>
                  <a:srgbClr val="0B0B0B"/>
                </a:solidFill>
                <a:latin typeface="Segoe UI"/>
              </a:rPr>
              <a:t>“Qualquer coisa me chama.”</a:t>
            </a:r>
          </a:p>
          <a:p>
            <a:pPr>
              <a:spcBef>
                <a:spcPts val="1400"/>
              </a:spcBef>
            </a:pPr>
            <a:r>
              <a:rPr sz="1500">
                <a:solidFill>
                  <a:srgbClr val="52514E"/>
                </a:solidFill>
                <a:latin typeface="Segoe UI"/>
              </a:rPr>
              <a:t>Cliente some. Sem próximo passo. Sem urgência.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286000"/>
            <a:ext cx="5120640" cy="3291840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5875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b="1" sz="1400">
                <a:solidFill>
                  <a:srgbClr val="0CA30C"/>
                </a:solidFill>
                <a:latin typeface="Segoe UI"/>
              </a:rPr>
              <a:t>PROPOSTO (FC1)</a:t>
            </a:r>
          </a:p>
          <a:p>
            <a:pPr>
              <a:spcBef>
                <a:spcPts val="1000"/>
              </a:spcBef>
            </a:pPr>
            <a:r>
              <a:rPr sz="1800" i="1">
                <a:solidFill>
                  <a:srgbClr val="0B0B0B"/>
                </a:solidFill>
                <a:latin typeface="Segoe UI"/>
              </a:rPr>
              <a:t>“Vou te mandar a proposta hoje às 14h. Você consegue me dar um retorno até quinta?”</a:t>
            </a:r>
          </a:p>
          <a:p>
            <a:pPr>
              <a:spcBef>
                <a:spcPts val="1400"/>
              </a:spcBef>
            </a:pPr>
            <a:r>
              <a:rPr sz="1500">
                <a:solidFill>
                  <a:srgbClr val="52514E"/>
                </a:solidFill>
                <a:latin typeface="Segoe UI"/>
              </a:rPr>
              <a:t>Cliente tem uma expectativa. Vendedor tem um motivo para ligar.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78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2148840"/>
            <a:ext cx="78638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Não é um comportamento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isolado — é a combinação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que multiplica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4215384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E8F7"/>
                </a:solidFill>
                <a:latin typeface="Segoe UI"/>
              </a:rPr>
              <a:t>A resposta mais direta à pergunta “o que gera uma venda”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DFF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HIPÓTESE 3 · CRUZAMENTO CONFIRMADO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B0B0B"/>
                </a:solidFill>
                <a:latin typeface="Segoe UI"/>
              </a:rPr>
              <a:t>Sozinho, o comportamento certo quase não move o número</a:t>
            </a:r>
          </a:p>
        </p:txBody>
      </p:sp>
      <p:pic>
        <p:nvPicPr>
          <p:cNvPr id="4" name="Picture 3" descr="h10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934" y="2103120"/>
            <a:ext cx="7589825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HIPÓTESE 3 · O CHALLENGER EM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0B0B0B"/>
                </a:solidFill>
                <a:latin typeface="Segoe UI"/>
              </a:rPr>
              <a:t>Revelar o custo oculto do concorrente, não só dizer que é melhor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6949440" cy="3017520"/>
          </a:xfrm>
          <a:prstGeom prst="roundRect">
            <a:avLst>
              <a:gd name="adj" fmla="val 3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228600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“O preço deles realmente está no menor preço. Agora,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eu quero que você fique tranquilo: eles não têm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cobertura total. Aí cobram tudo na indenização.”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“A taxa de operação nossa é 12% e a deles é 20%.”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Cliente: “Com vocês eu nem fiz cotação,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eu fui direto e já fechei.”</a:t>
            </a:r>
          </a:p>
          <a:p>
            <a:pPr algn="l">
              <a:spcBef>
                <a:spcPts val="800"/>
              </a:spcBef>
            </a:pPr>
            <a:r>
              <a:rPr sz="1200" i="0" b="1">
                <a:solidFill>
                  <a:srgbClr val="898781"/>
                </a:solidFill>
                <a:latin typeface="Segoe UI"/>
              </a:rPr>
              <a:t>Rodrigo, vendedor · Cliente 13382750 · 342s · CH1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73152" cy="301752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2377440"/>
            <a:ext cx="36118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O que o vendedor fez: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Em vez de só afirmar que a Localiza é melhor, revelou um dado concreto e verificável — taxa de operação e cobertura.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Exemplo positivo: nome mantido de propósito, é reconhecimento.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HIPÓTESE 3 · O UPSELL CONECTADO À 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B0B0B"/>
                </a:solidFill>
                <a:latin typeface="Segoe UI"/>
              </a:rPr>
              <a:t>Não é persuasão — é a conta que o cliente não tinha feito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10607040" cy="1828800"/>
          </a:xfrm>
          <a:prstGeom prst="roundRect">
            <a:avLst>
              <a:gd name="adj" fmla="val 3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228600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“A diária está mais cara que o mensal. Se ampliar para mensal, você economiza.”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i="1">
                <a:solidFill>
                  <a:srgbClr val="0B0B0B"/>
                </a:solidFill>
                <a:latin typeface="Segoe UI"/>
              </a:rPr>
              <a:t>“Quanto tempo você vai precisar? X dias × R$ diária = R$ Y. O mensal custa R$ Z.”</a:t>
            </a:r>
          </a:p>
          <a:p>
            <a:pPr algn="l">
              <a:spcBef>
                <a:spcPts val="800"/>
              </a:spcBef>
            </a:pPr>
            <a:r>
              <a:rPr sz="1200" i="0" b="1">
                <a:solidFill>
                  <a:srgbClr val="898781"/>
                </a:solidFill>
                <a:latin typeface="Segoe UI"/>
              </a:rPr>
              <a:t>Padrão recorrente nas ligações que fecham (B5)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73152" cy="18288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4480560"/>
            <a:ext cx="3291840" cy="12801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600" b="1">
                <a:solidFill>
                  <a:srgbClr val="0CA30C"/>
                </a:solidFill>
                <a:latin typeface="Segoe UI"/>
              </a:rPr>
              <a:t>21,3%</a:t>
            </a:r>
          </a:p>
          <a:p>
            <a:pPr algn="ctr"/>
            <a:r>
              <a:rPr sz="1250">
                <a:solidFill>
                  <a:srgbClr val="52514E"/>
                </a:solidFill>
                <a:latin typeface="Segoe UI"/>
              </a:rPr>
              <a:t>presente nas ligações
que fecharam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4480560"/>
            <a:ext cx="3291840" cy="12801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600" b="1">
                <a:solidFill>
                  <a:srgbClr val="52514E"/>
                </a:solidFill>
                <a:latin typeface="Segoe UI"/>
              </a:rPr>
              <a:t>13,9%</a:t>
            </a:r>
          </a:p>
          <a:p>
            <a:pPr algn="ctr"/>
            <a:r>
              <a:rPr sz="1250">
                <a:solidFill>
                  <a:srgbClr val="52514E"/>
                </a:solidFill>
                <a:latin typeface="Segoe UI"/>
              </a:rPr>
              <a:t>presente nas que só
interessaram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448056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600" b="1">
                <a:solidFill>
                  <a:srgbClr val="2A78D6"/>
                </a:solidFill>
                <a:latin typeface="Segoe UI"/>
              </a:rPr>
              <a:t>+7,4pp</a:t>
            </a:r>
          </a:p>
          <a:p>
            <a:pPr algn="ctr"/>
            <a:r>
              <a:rPr sz="1250">
                <a:solidFill>
                  <a:srgbClr val="52514E"/>
                </a:solidFill>
                <a:latin typeface="Segoe UI"/>
              </a:rPr>
              <a:t>maior diferencial
isolado da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VOLTANDO À PERGUNTA QUE ABRIU 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B0B0B"/>
                </a:solidFill>
                <a:latin typeface="Segoe UI"/>
              </a:rPr>
              <a:t>O que o vendedor que fecha faz, que o time em geral não 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B0B0B"/>
                </a:solidFill>
                <a:latin typeface="Segoe UI"/>
              </a:rPr>
              <a:t>1 · Sonda o contexto antes de propor — abertura contextualizada + Challenger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B0B0B"/>
                </a:solidFill>
                <a:latin typeface="Segoe UI"/>
              </a:rPr>
              <a:t>2 · Conecta o produto a uma dor real do cliente — upsell, não catálogo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B0B0B"/>
                </a:solidFill>
                <a:latin typeface="Segoe UI"/>
              </a:rPr>
              <a:t>3 · Fecha com data, não com convite genérico — compromisso dos dois 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1">
                <a:solidFill>
                  <a:srgbClr val="2A78D6"/>
                </a:solidFill>
                <a:latin typeface="Segoe UI"/>
              </a:rPr>
              <a:t>Cada um sozinho move pouco o número. Juntos, multiplicam por 4x.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DA ANÁLISE PARA A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0B0B0B"/>
                </a:solidFill>
                <a:latin typeface="Segoe UI"/>
              </a:rPr>
              <a:t>Próximos 30 dias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258568"/>
            <a:ext cx="146304" cy="146304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0B0B0B"/>
                </a:solidFill>
                <a:latin typeface="Segoe UI"/>
              </a:rPr>
              <a:t>Ligar pros 5 clientes críticos identificados pelo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1488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514E"/>
                </a:solidFill>
                <a:latin typeface="Segoe UI"/>
              </a:rPr>
              <a:t>Hoje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008376"/>
            <a:ext cx="146304" cy="14630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98648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0B0B0B"/>
                </a:solidFill>
                <a:latin typeface="Segoe UI"/>
              </a:rPr>
              <a:t>Escalar biometria/senha para produto e operações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89864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514E"/>
                </a:solidFill>
                <a:latin typeface="Segoe UI"/>
              </a:rPr>
              <a:t>Esta semana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758183"/>
            <a:ext cx="146304" cy="14630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648456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0B0B0B"/>
                </a:solidFill>
                <a:latin typeface="Segoe UI"/>
              </a:rPr>
              <a:t>Treinar CH1 — revelar custo oculto do concorrente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648456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514E"/>
                </a:solidFill>
                <a:latin typeface="Segoe UI"/>
              </a:rPr>
              <a:t>2 semanas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07992"/>
            <a:ext cx="146304" cy="14630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398264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0B0B0B"/>
                </a:solidFill>
                <a:latin typeface="Segoe UI"/>
              </a:rPr>
              <a:t>Treinar B5 — upsell conectado à 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398264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514E"/>
                </a:solidFill>
                <a:latin typeface="Segoe UI"/>
              </a:rPr>
              <a:t>2 semanas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257800"/>
            <a:ext cx="146304" cy="14630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48072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0B0B0B"/>
                </a:solidFill>
                <a:latin typeface="Segoe UI"/>
              </a:rPr>
              <a:t>Trocar “qualquer coisa me chama” por prazo com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14807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2514E"/>
                </a:solidFill>
                <a:latin typeface="Segoe UI"/>
              </a:rPr>
              <a:t>2 semanas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Aletheia RAC · Inteligência Comercial · Frota PJ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78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DCE8F7"/>
                </a:solidFill>
                <a:latin typeface="Segoe UI"/>
              </a:rPr>
              <a:t>VISÃO DE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92024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“O que vocês viram hoje é uma foto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de junho. Depois de validado,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isso vira um filme.”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E8EFFA"/>
                </a:solidFill>
                <a:latin typeface="Segoe UI"/>
              </a:rPr>
              <a:t>Novo lote de 5.348 ligações ≈ 1 mês de volume (~178/dia) cabe em ~6 chamadas de API por dia — dentro da cota gratuita. Backlog zera entre 13/07 e ~20/07; depois disso, feedback quase diário, sem custo adicional.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DFF3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