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332720" y="320040"/>
            <a:ext cx="1463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1" i="0">
                <a:solidFill>
                  <a:srgbClr val="1A1A1A"/>
                </a:solidFill>
                <a:latin typeface="Segoe UI"/>
              </a:rPr>
              <a:t>ALETHEIA</a:t>
            </a:r>
          </a:p>
          <a:p>
            <a:pPr algn="r"/>
            <a:r>
              <a:rPr sz="1500" b="1" i="0">
                <a:solidFill>
                  <a:srgbClr val="2A78D6"/>
                </a:solidFill>
                <a:latin typeface="Segoe UI"/>
              </a:rPr>
              <a:t>RAC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9509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1" i="0">
                <a:solidFill>
                  <a:srgbClr val="1A1A1A"/>
                </a:solidFill>
                <a:latin typeface="Segoe UI"/>
              </a:rPr>
              <a:t>“O que o vendedor faz para fechar um contrato?” </a:t>
            </a:r>
            <a:r>
              <a:rPr sz="1350" b="0" i="0">
                <a:solidFill>
                  <a:srgbClr val="444444"/>
                </a:solidFill>
                <a:latin typeface="Segoe UI"/>
              </a:rPr>
              <a:t>Pergunta feita pelo CEO/diretoria no início do projeto. 6.623 ligações analisadas por IA entre junho e julho de 2026 (1.275 da base piloto + 5.348 do lote seguinte) — não é amostra, 99,6% já têm desfecho e comportamento mapeados.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17320"/>
            <a:ext cx="11183112" cy="0"/>
          </a:xfrm>
          <a:prstGeom prst="line">
            <a:avLst/>
          </a:prstGeom>
          <a:ln w="9525">
            <a:solidFill>
              <a:srgbClr val="E4E4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1691640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8A8A8A"/>
                </a:solidFill>
                <a:latin typeface="Segoe UI"/>
              </a:rPr>
              <a:t>GANCHO — A PERGUNTA QUE ABRIU O PROJETO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3739896"/>
            <a:ext cx="3575304" cy="17373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4E4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899896"/>
            <a:ext cx="3118104" cy="141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2A78D6"/>
                </a:solidFill>
                <a:latin typeface="Segoe UI"/>
              </a:rPr>
              <a:t>1</a:t>
            </a:r>
          </a:p>
          <a:p>
            <a:pPr>
              <a:spcBef>
                <a:spcPts val="600"/>
              </a:spcBef>
            </a:pPr>
            <a:r>
              <a:rPr sz="1200" b="0" i="0">
                <a:solidFill>
                  <a:srgbClr val="1A1A1A"/>
                </a:solidFill>
                <a:latin typeface="Segoe UI"/>
              </a:rPr>
              <a:t>O mercado real é menor do que parece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06824" y="3739896"/>
            <a:ext cx="3575304" cy="17373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4E4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35424" y="3899896"/>
            <a:ext cx="3118104" cy="141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2A78D6"/>
                </a:solidFill>
                <a:latin typeface="Segoe UI"/>
              </a:rPr>
              <a:t>2</a:t>
            </a:r>
          </a:p>
          <a:p>
            <a:pPr>
              <a:spcBef>
                <a:spcPts val="600"/>
              </a:spcBef>
            </a:pPr>
            <a:r>
              <a:rPr sz="1200" b="0" i="0">
                <a:solidFill>
                  <a:srgbClr val="1A1A1A"/>
                </a:solidFill>
                <a:latin typeface="Segoe UI"/>
              </a:rPr>
              <a:t>A plataforma consome tempo comercial que poderia ser venda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10728" y="3739896"/>
            <a:ext cx="3575304" cy="17373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4E4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39328" y="3899896"/>
            <a:ext cx="3118104" cy="141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2A78D6"/>
                </a:solidFill>
                <a:latin typeface="Segoe UI"/>
              </a:rPr>
              <a:t>3</a:t>
            </a:r>
          </a:p>
          <a:p>
            <a:pPr>
              <a:spcBef>
                <a:spcPts val="600"/>
              </a:spcBef>
            </a:pPr>
            <a:r>
              <a:rPr sz="1200" b="0" i="0">
                <a:solidFill>
                  <a:srgbClr val="1A1A1A"/>
                </a:solidFill>
                <a:latin typeface="Segoe UI"/>
              </a:rPr>
              <a:t>Não é um comportamento isolado — os bons comportamentos se somam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057400"/>
            <a:ext cx="111831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444444"/>
                </a:solidFill>
                <a:latin typeface="Segoe UI"/>
              </a:rPr>
              <a:t>3 HIPÓTESES EMERGIRAM DOS DADOS (detalhe nos próximos slides)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73952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8A8A8A"/>
                </a:solidFill>
                <a:latin typeface="Segoe UI"/>
              </a:rPr>
              <a:t>Aletheia RAC — Inteligência Comercial Frota PJ — base auditada de 6.623 ligações (jun–jul/2026) — RMR 09/07/2026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332720" y="320040"/>
            <a:ext cx="1463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1" i="0">
                <a:solidFill>
                  <a:srgbClr val="1A1A1A"/>
                </a:solidFill>
                <a:latin typeface="Segoe UI"/>
              </a:rPr>
              <a:t>ALETHEIA</a:t>
            </a:r>
          </a:p>
          <a:p>
            <a:pPr algn="r"/>
            <a:r>
              <a:rPr sz="1500" b="1" i="0">
                <a:solidFill>
                  <a:srgbClr val="2A78D6"/>
                </a:solidFill>
                <a:latin typeface="Segoe UI"/>
              </a:rPr>
              <a:t>RAC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9509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1" i="0">
                <a:solidFill>
                  <a:srgbClr val="1A1A1A"/>
                </a:solidFill>
                <a:latin typeface="Segoe UI"/>
              </a:rPr>
              <a:t>Antes de julgar o time, é preciso medir o esforço certo. </a:t>
            </a:r>
            <a:r>
              <a:rPr sz="1350" b="0" i="0">
                <a:solidFill>
                  <a:srgbClr val="444444"/>
                </a:solidFill>
                <a:latin typeface="Segoe UI"/>
              </a:rPr>
              <a:t>57,4% das ligações não era venda (suporte, senha, cadastro, biometria), 37,3% interessou mas não fechou e apenas 5,1% fechou. Dentro do “não era venda”, 26,5% (1.002 ligações — 15% da base) eram prospecção nova sem tração, 90% iniciada pelo próprio vendedor.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17320"/>
            <a:ext cx="11183112" cy="0"/>
          </a:xfrm>
          <a:prstGeom prst="line">
            <a:avLst/>
          </a:prstGeom>
          <a:ln w="9525">
            <a:solidFill>
              <a:srgbClr val="E4E4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1691640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8A8A8A"/>
                </a:solidFill>
                <a:latin typeface="Segoe UI"/>
              </a:rPr>
              <a:t>HIPÓTESE 1 DE 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3236976"/>
            <a:ext cx="11183112" cy="2377440"/>
          </a:xfrm>
          <a:prstGeom prst="roundRect">
            <a:avLst>
              <a:gd name="adj" fmla="val 4500"/>
            </a:avLst>
          </a:prstGeom>
          <a:solidFill>
            <a:srgbClr val="F7F7F7"/>
          </a:solidFill>
          <a:ln w="9525">
            <a:solidFill>
              <a:srgbClr val="E4E4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3236976"/>
            <a:ext cx="41275" cy="237744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3396976"/>
            <a:ext cx="10794512" cy="205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50" b="1" i="0">
                <a:solidFill>
                  <a:srgbClr val="1A1A1A"/>
                </a:solidFill>
                <a:latin typeface="Segoe UI"/>
              </a:rPr>
              <a:t>Cliente: </a:t>
            </a:r>
            <a:r>
              <a:rPr sz="1150" b="0" i="1">
                <a:solidFill>
                  <a:srgbClr val="444444"/>
                </a:solidFill>
                <a:latin typeface="Segoe UI"/>
              </a:rPr>
              <a:t>“Eu queria saber, não sei se era no WhatsApp ou no e-mail, para eu poder fazer a renovação, né? (...) Tá, eu vou mandar de novo, então, que é o link de prorrogação do contrato, né?”</a:t>
            </a:r>
          </a:p>
          <a:p>
            <a:pPr>
              <a:spcBef>
                <a:spcPts val="1000"/>
              </a:spcBef>
            </a:pPr>
            <a:r>
              <a:rPr sz="1050" b="1" i="0">
                <a:solidFill>
                  <a:srgbClr val="2A78D6"/>
                </a:solidFill>
                <a:latin typeface="Segoe UI"/>
              </a:rPr>
              <a:t>— Cliente 25966050</a:t>
            </a:r>
            <a:r>
              <a:rPr sz="1050" b="0" i="0">
                <a:solidFill>
                  <a:srgbClr val="8A8A8A"/>
                </a:solidFill>
                <a:latin typeface="Segoe UI"/>
              </a:rPr>
              <a:t> · 170s · fechou renovação · score comercial: 0</a:t>
            </a:r>
          </a:p>
          <a:p>
            <a:pPr>
              <a:spcBef>
                <a:spcPts val="800"/>
              </a:spcBef>
            </a:pPr>
            <a:r>
              <a:rPr sz="1050" b="0" i="1">
                <a:solidFill>
                  <a:srgbClr val="444444"/>
                </a:solidFill>
                <a:latin typeface="Segoe UI"/>
              </a:rPr>
              <a:t>Renovou por inércia — sem nenhum comportamento comercial. O contrato “fechou” sozinho; o risco é que migre pra concorrência do mesmo jeito, por inércia, quando alguém ligar primeiro com proposta ativa.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8A8A8A"/>
                </a:solidFill>
                <a:latin typeface="Segoe UI"/>
              </a:rPr>
              <a:t>Aletheia RAC — Inteligência Comercial Frota PJ — base auditada de 6.623 ligações (jun–jul/2026) — RMR 09/07/2026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332720" y="320040"/>
            <a:ext cx="1463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1" i="0">
                <a:solidFill>
                  <a:srgbClr val="1A1A1A"/>
                </a:solidFill>
                <a:latin typeface="Segoe UI"/>
              </a:rPr>
              <a:t>ALETHEIA</a:t>
            </a:r>
          </a:p>
          <a:p>
            <a:pPr algn="r"/>
            <a:r>
              <a:rPr sz="1500" b="1" i="0">
                <a:solidFill>
                  <a:srgbClr val="2A78D6"/>
                </a:solidFill>
                <a:latin typeface="Segoe UI"/>
              </a:rPr>
              <a:t>RAC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9509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1" i="0">
                <a:solidFill>
                  <a:srgbClr val="1A1A1A"/>
                </a:solidFill>
                <a:latin typeface="Segoe UI"/>
              </a:rPr>
              <a:t>O vendedor virou suporte de sistema em boa parte do dia. </a:t>
            </a:r>
            <a:r>
              <a:rPr sz="1350" b="0" i="0">
                <a:solidFill>
                  <a:srgbClr val="444444"/>
                </a:solidFill>
                <a:latin typeface="Segoe UI"/>
              </a:rPr>
              <a:t>65,6% dos problemas relatados se concentram em 4 tipos — faturamento/cobrança 19,3%, acesso/sistema 18,2%, condutor/cadastro 16,1%, reserva/sistema 11,9%. 39,9% de toda oportunidade perdida da base é ligação que encerra sem nenhuma pergunta comercial.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17320"/>
            <a:ext cx="11183112" cy="0"/>
          </a:xfrm>
          <a:prstGeom prst="line">
            <a:avLst/>
          </a:prstGeom>
          <a:ln w="9525">
            <a:solidFill>
              <a:srgbClr val="E4E4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1691640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8A8A8A"/>
                </a:solidFill>
                <a:latin typeface="Segoe UI"/>
              </a:rPr>
              <a:t>HIPÓTESE 2 DE 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3328416"/>
            <a:ext cx="5477256" cy="2194560"/>
          </a:xfrm>
          <a:prstGeom prst="roundRect">
            <a:avLst>
              <a:gd name="adj" fmla="val 4500"/>
            </a:avLst>
          </a:prstGeom>
          <a:solidFill>
            <a:srgbClr val="F7F7F7"/>
          </a:solidFill>
          <a:ln w="9525">
            <a:solidFill>
              <a:srgbClr val="E4E4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3328416"/>
            <a:ext cx="41275" cy="219456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3488416"/>
            <a:ext cx="5088656" cy="187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50" b="1" i="0">
                <a:solidFill>
                  <a:srgbClr val="1A1A1A"/>
                </a:solidFill>
                <a:latin typeface="Segoe UI"/>
              </a:rPr>
              <a:t>Cliente: </a:t>
            </a:r>
            <a:r>
              <a:rPr sz="1150" b="0" i="1">
                <a:solidFill>
                  <a:srgbClr val="444444"/>
                </a:solidFill>
                <a:latin typeface="Segoe UI"/>
              </a:rPr>
              <a:t>“Estou tentando fazer uma reserva... a partir do momento que pede a nacionalidade ele para e trava!”</a:t>
            </a:r>
          </a:p>
          <a:p>
            <a:pPr>
              <a:spcBef>
                <a:spcPts val="1000"/>
              </a:spcBef>
            </a:pPr>
            <a:r>
              <a:rPr sz="1050" b="1" i="0">
                <a:solidFill>
                  <a:srgbClr val="2A78D6"/>
                </a:solidFill>
                <a:latin typeface="Segoe UI"/>
              </a:rPr>
              <a:t>— Cliente 17015435</a:t>
            </a:r>
            <a:r>
              <a:rPr sz="1050" b="0" i="0">
                <a:solidFill>
                  <a:srgbClr val="8A8A8A"/>
                </a:solidFill>
                <a:latin typeface="Segoe UI"/>
              </a:rPr>
              <a:t> · bug confirmado no sistema</a:t>
            </a:r>
          </a:p>
          <a:p>
            <a:pPr>
              <a:spcBef>
                <a:spcPts val="800"/>
              </a:spcBef>
            </a:pPr>
            <a:r>
              <a:rPr sz="1050" b="0" i="1">
                <a:solidFill>
                  <a:srgbClr val="444444"/>
                </a:solidFill>
                <a:latin typeface="Segoe UI"/>
              </a:rPr>
              <a:t>Vendedor só pode prometer avisar quando voltar. Ligação inteira de suporte a um problema que não é do cliente nem do vendedor.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08776" y="3328416"/>
            <a:ext cx="5477256" cy="2194560"/>
          </a:xfrm>
          <a:prstGeom prst="roundRect">
            <a:avLst>
              <a:gd name="adj" fmla="val 4500"/>
            </a:avLst>
          </a:prstGeom>
          <a:solidFill>
            <a:srgbClr val="F7F7F7"/>
          </a:solidFill>
          <a:ln w="9525">
            <a:solidFill>
              <a:srgbClr val="E4E4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08776" y="3328416"/>
            <a:ext cx="41275" cy="219456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37376" y="3488416"/>
            <a:ext cx="5088656" cy="187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50" b="1" i="0">
                <a:solidFill>
                  <a:srgbClr val="1A1A1A"/>
                </a:solidFill>
                <a:latin typeface="Segoe UI"/>
              </a:rPr>
              <a:t>Cliente: </a:t>
            </a:r>
            <a:r>
              <a:rPr sz="1150" b="0" i="1">
                <a:solidFill>
                  <a:srgbClr val="444444"/>
                </a:solidFill>
                <a:latin typeface="Segoe UI"/>
              </a:rPr>
              <a:t>“precisei alugar um carro, tive que passar no cartão... era tão fácil pela plataforma.”</a:t>
            </a:r>
          </a:p>
          <a:p>
            <a:pPr>
              <a:spcBef>
                <a:spcPts val="1000"/>
              </a:spcBef>
            </a:pPr>
            <a:r>
              <a:rPr sz="1050" b="1" i="0">
                <a:solidFill>
                  <a:srgbClr val="2A78D6"/>
                </a:solidFill>
                <a:latin typeface="Segoe UI"/>
              </a:rPr>
              <a:t>— Cliente 20148743</a:t>
            </a:r>
            <a:r>
              <a:rPr sz="1050" b="0" i="0">
                <a:solidFill>
                  <a:srgbClr val="8A8A8A"/>
                </a:solidFill>
                <a:latin typeface="Segoe UI"/>
              </a:rPr>
              <a:t> · deixou de alugar por não acessar login/senha</a:t>
            </a:r>
          </a:p>
          <a:p>
            <a:pPr>
              <a:spcBef>
                <a:spcPts val="800"/>
              </a:spcBef>
            </a:pPr>
            <a:r>
              <a:rPr sz="1050" b="0" i="1">
                <a:solidFill>
                  <a:srgbClr val="444444"/>
                </a:solidFill>
                <a:latin typeface="Segoe UI"/>
              </a:rPr>
              <a:t>Receita perdida silenciosamente — não por preço ou produto, por acesso quebrado.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8A8A8A"/>
                </a:solidFill>
                <a:latin typeface="Segoe UI"/>
              </a:rPr>
              <a:t>Aletheia RAC — Inteligência Comercial Frota PJ — base auditada de 6.623 ligações (jun–jul/2026) — RMR 09/07/2026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332720" y="320040"/>
            <a:ext cx="1463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1" i="0">
                <a:solidFill>
                  <a:srgbClr val="1A1A1A"/>
                </a:solidFill>
                <a:latin typeface="Segoe UI"/>
              </a:rPr>
              <a:t>ALETHEIA</a:t>
            </a:r>
          </a:p>
          <a:p>
            <a:pPr algn="r"/>
            <a:r>
              <a:rPr sz="1500" b="1" i="0">
                <a:solidFill>
                  <a:srgbClr val="2A78D6"/>
                </a:solidFill>
                <a:latin typeface="Segoe UI"/>
              </a:rPr>
              <a:t>RAC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9509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1" i="0">
                <a:solidFill>
                  <a:srgbClr val="1A1A1A"/>
                </a:solidFill>
                <a:latin typeface="Segoe UI"/>
              </a:rPr>
              <a:t>Não basta tentar — o que separa quem fecha é fazer bem feito, e fazer mais de um. </a:t>
            </a:r>
            <a:r>
              <a:rPr sz="1350" b="0" i="0">
                <a:solidFill>
                  <a:srgbClr val="444444"/>
                </a:solidFill>
                <a:latin typeface="Segoe UI"/>
              </a:rPr>
              <a:t>3,2% fecha quando nenhum dos 2 comportamentos-chave aparece (padrão do time hoje). 20,0% fecha quando upsell ligado à dor do cliente e uma boa comparação com o concorrente aparecem juntos — 6,25x mais fechamento. Tentativa malfeita fica abaixo da média da base; só a bem executada funciona.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17320"/>
            <a:ext cx="11183112" cy="0"/>
          </a:xfrm>
          <a:prstGeom prst="line">
            <a:avLst/>
          </a:prstGeom>
          <a:ln w="9525">
            <a:solidFill>
              <a:srgbClr val="E4E4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1691640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8A8A8A"/>
                </a:solidFill>
                <a:latin typeface="Segoe UI"/>
              </a:rPr>
              <a:t>HIPÓTESE 3 DE 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756916"/>
            <a:ext cx="11183112" cy="2651760"/>
          </a:xfrm>
          <a:prstGeom prst="roundRect">
            <a:avLst>
              <a:gd name="adj" fmla="val 4500"/>
            </a:avLst>
          </a:prstGeom>
          <a:solidFill>
            <a:srgbClr val="F7F7F7"/>
          </a:solidFill>
          <a:ln w="9525">
            <a:solidFill>
              <a:srgbClr val="E4E4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2756916"/>
            <a:ext cx="41275" cy="265176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916916"/>
            <a:ext cx="10794512" cy="233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50" b="1" i="0">
                <a:solidFill>
                  <a:srgbClr val="1A1A1A"/>
                </a:solidFill>
                <a:latin typeface="Segoe UI"/>
              </a:rPr>
              <a:t>Cliente: </a:t>
            </a:r>
            <a:r>
              <a:rPr sz="1150" b="0" i="1">
                <a:solidFill>
                  <a:srgbClr val="444444"/>
                </a:solidFill>
                <a:latin typeface="Segoe UI"/>
              </a:rPr>
              <a:t>“Eu posso fazer o pagamento pelo cartão da empresa? [...] eu precisaria que ele retirasse se eu fizesse o pagamento por aqui ou faturado.”</a:t>
            </a:r>
          </a:p>
          <a:p>
            <a:pPr>
              <a:spcAft>
                <a:spcPts val="600"/>
              </a:spcAft>
            </a:pPr>
            <a:r>
              <a:rPr sz="1150" b="1" i="0">
                <a:solidFill>
                  <a:srgbClr val="1A1A1A"/>
                </a:solidFill>
                <a:latin typeface="Segoe UI"/>
              </a:rPr>
              <a:t>Vendedora: </a:t>
            </a:r>
            <a:r>
              <a:rPr sz="1150" b="0" i="1">
                <a:solidFill>
                  <a:srgbClr val="444444"/>
                </a:solidFill>
                <a:latin typeface="Segoe UI"/>
              </a:rPr>
              <a:t>“O bom de ser faturado pra empresa é que o seu condutor vai retirar sem nenhuma burocracia. Ele não tem que apresentar nenhum cartão nominal, nenhum pagamento de caução — igual lá na pessoa física, que geralmente é duas vezes o valor da caução.”</a:t>
            </a:r>
          </a:p>
          <a:p>
            <a:pPr>
              <a:spcBef>
                <a:spcPts val="1000"/>
              </a:spcBef>
            </a:pPr>
            <a:r>
              <a:rPr sz="1050" b="1" i="0">
                <a:solidFill>
                  <a:srgbClr val="2A78D6"/>
                </a:solidFill>
                <a:latin typeface="Segoe UI"/>
              </a:rPr>
              <a:t>— Cliente 14683216</a:t>
            </a:r>
            <a:r>
              <a:rPr sz="1050" b="0" i="0">
                <a:solidFill>
                  <a:srgbClr val="8A8A8A"/>
                </a:solidFill>
                <a:latin typeface="Segoe UI"/>
              </a:rPr>
              <a:t> · 1.180s · fechou novo contrato</a:t>
            </a:r>
          </a:p>
          <a:p>
            <a:pPr>
              <a:spcBef>
                <a:spcPts val="800"/>
              </a:spcBef>
            </a:pPr>
            <a:r>
              <a:rPr sz="1050" b="0" i="1">
                <a:solidFill>
                  <a:srgbClr val="444444"/>
                </a:solidFill>
                <a:latin typeface="Segoe UI"/>
              </a:rPr>
              <a:t>Conectou a dúvida específica do cliente a uma vantagem concreta e verificável — não uma afirmação genérica de que “vale a pena”.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545836"/>
            <a:ext cx="111831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444444"/>
                </a:solidFill>
                <a:latin typeface="Segoe UI"/>
              </a:rPr>
              <a:t>Já existe um guia de treinamento pronto sobre como executar bem esse tipo de argumentação (critério objetivo de 3 pontos, com exemplos reais bons e ruins da própria base) — a análise já virou ação.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73952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8A8A8A"/>
                </a:solidFill>
                <a:latin typeface="Segoe UI"/>
              </a:rPr>
              <a:t>Aletheia RAC — Inteligência Comercial Frota PJ — base auditada de 6.623 ligações (jun–jul/2026) — RMR 09/07/2026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332720" y="320040"/>
            <a:ext cx="1463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1" i="0">
                <a:solidFill>
                  <a:srgbClr val="1A1A1A"/>
                </a:solidFill>
                <a:latin typeface="Segoe UI"/>
              </a:rPr>
              <a:t>ALETHEIA</a:t>
            </a:r>
          </a:p>
          <a:p>
            <a:pPr algn="r"/>
            <a:r>
              <a:rPr sz="1500" b="1" i="0">
                <a:solidFill>
                  <a:srgbClr val="2A78D6"/>
                </a:solidFill>
                <a:latin typeface="Segoe UI"/>
              </a:rPr>
              <a:t>RAC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9509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1" i="0">
                <a:solidFill>
                  <a:srgbClr val="1A1A1A"/>
                </a:solidFill>
                <a:latin typeface="Segoe UI"/>
              </a:rPr>
              <a:t>O cliente já fala do que quer comprar — só falta alguém perguntar. </a:t>
            </a:r>
            <a:r>
              <a:rPr sz="1350" b="0" i="0">
                <a:solidFill>
                  <a:srgbClr val="444444"/>
                </a:solidFill>
                <a:latin typeface="Segoe UI"/>
              </a:rPr>
              <a:t>Contagem de menções na base inteira de 6.623 ligações: frota pesada, elétrico, telemetria e gestão de frota aparecem centenas de vezes — não é nicho, é conversa recorrente que o time já está tendo.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17320"/>
            <a:ext cx="11183112" cy="0"/>
          </a:xfrm>
          <a:prstGeom prst="line">
            <a:avLst/>
          </a:prstGeom>
          <a:ln w="9525">
            <a:solidFill>
              <a:srgbClr val="E4E4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1691640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8A8A8A"/>
                </a:solidFill>
                <a:latin typeface="Segoe UI"/>
              </a:rPr>
              <a:t>PORTFÓLIO — MENÇÕES NA BASE INTEIRA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377440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8A8A8A"/>
                </a:solidFill>
                <a:latin typeface="Segoe UI"/>
              </a:rPr>
              <a:t>PRODUTO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0" y="23774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 i="0">
                <a:solidFill>
                  <a:srgbClr val="8A8A8A"/>
                </a:solidFill>
                <a:latin typeface="Segoe UI"/>
              </a:rPr>
              <a:t>PILOTO (1.275)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23774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 i="0">
                <a:solidFill>
                  <a:srgbClr val="8A8A8A"/>
                </a:solidFill>
                <a:latin typeface="Segoe UI"/>
              </a:rPr>
              <a:t>NOVO LOTE (5.348)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0" y="237744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 i="0">
                <a:solidFill>
                  <a:srgbClr val="8A8A8A"/>
                </a:solidFill>
                <a:latin typeface="Segoe UI"/>
              </a:rPr>
              <a:t>TOTAL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02920" y="2697480"/>
            <a:ext cx="6355080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02920" y="2788920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Segoe UI"/>
              </a:rPr>
              <a:t>Frota pesada / caminhão / picape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27889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50" b="0" i="0">
                <a:solidFill>
                  <a:srgbClr val="1A1A1A"/>
                </a:solidFill>
                <a:latin typeface="Segoe UI"/>
              </a:rPr>
              <a:t>175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7889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50" b="0" i="0">
                <a:solidFill>
                  <a:srgbClr val="1A1A1A"/>
                </a:solidFill>
                <a:latin typeface="Segoe UI"/>
              </a:rPr>
              <a:t>537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2160" y="278892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50" b="1" i="0">
                <a:solidFill>
                  <a:srgbClr val="2A78D6"/>
                </a:solidFill>
                <a:latin typeface="Segoe UI"/>
              </a:rPr>
              <a:t>712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02920" y="3154680"/>
            <a:ext cx="6355080" cy="0"/>
          </a:xfrm>
          <a:prstGeom prst="line">
            <a:avLst/>
          </a:prstGeom>
          <a:ln w="6350">
            <a:solidFill>
              <a:srgbClr val="E4E4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02920" y="3200400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Segoe UI"/>
              </a:rPr>
              <a:t>Elétrico / HB20 / TAO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32004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50" b="0" i="0">
                <a:solidFill>
                  <a:srgbClr val="1A1A1A"/>
                </a:solidFill>
                <a:latin typeface="Segoe UI"/>
              </a:rPr>
              <a:t>119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32004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50" b="0" i="0">
                <a:solidFill>
                  <a:srgbClr val="1A1A1A"/>
                </a:solidFill>
                <a:latin typeface="Segoe UI"/>
              </a:rPr>
              <a:t>383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52160" y="320040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50" b="1" i="0">
                <a:solidFill>
                  <a:srgbClr val="2A78D6"/>
                </a:solidFill>
                <a:latin typeface="Segoe UI"/>
              </a:rPr>
              <a:t>502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02920" y="3566160"/>
            <a:ext cx="6355080" cy="0"/>
          </a:xfrm>
          <a:prstGeom prst="line">
            <a:avLst/>
          </a:prstGeom>
          <a:ln w="6350">
            <a:solidFill>
              <a:srgbClr val="E4E4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02920" y="3611880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Segoe UI"/>
              </a:rPr>
              <a:t>Telemetria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4720" y="361188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50" b="0" i="0">
                <a:solidFill>
                  <a:srgbClr val="1A1A1A"/>
                </a:solidFill>
                <a:latin typeface="Segoe UI"/>
              </a:rPr>
              <a:t>79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361188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50" b="0" i="0">
                <a:solidFill>
                  <a:srgbClr val="1A1A1A"/>
                </a:solidFill>
                <a:latin typeface="Segoe UI"/>
              </a:rPr>
              <a:t>341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52160" y="361188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50" b="1" i="0">
                <a:solidFill>
                  <a:srgbClr val="2A78D6"/>
                </a:solidFill>
                <a:latin typeface="Segoe UI"/>
              </a:rPr>
              <a:t>420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02920" y="3977640"/>
            <a:ext cx="6355080" cy="0"/>
          </a:xfrm>
          <a:prstGeom prst="line">
            <a:avLst/>
          </a:prstGeom>
          <a:ln w="6350">
            <a:solidFill>
              <a:srgbClr val="E4E4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02920" y="4023360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Segoe UI"/>
              </a:rPr>
              <a:t>Gestão de frota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74720" y="402336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50" b="0" i="0">
                <a:solidFill>
                  <a:srgbClr val="1A1A1A"/>
                </a:solidFill>
                <a:latin typeface="Segoe UI"/>
              </a:rPr>
              <a:t>80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63440" y="402336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50" b="0" i="0">
                <a:solidFill>
                  <a:srgbClr val="1A1A1A"/>
                </a:solidFill>
                <a:latin typeface="Segoe UI"/>
              </a:rPr>
              <a:t>288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52160" y="402336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50" b="1" i="0">
                <a:solidFill>
                  <a:srgbClr val="2A78D6"/>
                </a:solidFill>
                <a:latin typeface="Segoe UI"/>
              </a:rPr>
              <a:t>368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02920" y="4389120"/>
            <a:ext cx="6355080" cy="0"/>
          </a:xfrm>
          <a:prstGeom prst="line">
            <a:avLst/>
          </a:prstGeom>
          <a:ln w="6350">
            <a:solidFill>
              <a:srgbClr val="E4E4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502920" y="4434840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Segoe UI"/>
              </a:rPr>
              <a:t>Seminovos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74720" y="44348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50" b="0" i="0">
                <a:solidFill>
                  <a:srgbClr val="1A1A1A"/>
                </a:solidFill>
                <a:latin typeface="Segoe UI"/>
              </a:rPr>
              <a:t>16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63440" y="44348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50" b="0" i="0">
                <a:solidFill>
                  <a:srgbClr val="1A1A1A"/>
                </a:solidFill>
                <a:latin typeface="Segoe UI"/>
              </a:rPr>
              <a:t>45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52160" y="443484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50" b="1" i="0">
                <a:solidFill>
                  <a:srgbClr val="2A78D6"/>
                </a:solidFill>
                <a:latin typeface="Segoe UI"/>
              </a:rPr>
              <a:t>61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502920" y="4800600"/>
            <a:ext cx="6355080" cy="0"/>
          </a:xfrm>
          <a:prstGeom prst="line">
            <a:avLst/>
          </a:prstGeom>
          <a:ln w="6350">
            <a:solidFill>
              <a:srgbClr val="E4E4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502920" y="4846320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Segoe UI"/>
              </a:rPr>
              <a:t>ZARP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474720" y="48463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50" b="0" i="0">
                <a:solidFill>
                  <a:srgbClr val="1A1A1A"/>
                </a:solidFill>
                <a:latin typeface="Segoe UI"/>
              </a:rPr>
              <a:t>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63440" y="48463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50" b="0" i="0">
                <a:solidFill>
                  <a:srgbClr val="1A1A1A"/>
                </a:solidFill>
                <a:latin typeface="Segoe UI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52160" y="484632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50" b="1" i="0">
                <a:solidFill>
                  <a:srgbClr val="2A78D6"/>
                </a:solidFill>
                <a:latin typeface="Segoe UI"/>
              </a:rPr>
              <a:t>5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502920" y="5212080"/>
            <a:ext cx="6355080" cy="0"/>
          </a:xfrm>
          <a:prstGeom prst="line">
            <a:avLst/>
          </a:prstGeom>
          <a:ln w="6350">
            <a:solidFill>
              <a:srgbClr val="E4E4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502920" y="5257800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Segoe UI"/>
              </a:rPr>
              <a:t>Meoo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474720" y="52578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50" b="0" i="0">
                <a:solidFill>
                  <a:srgbClr val="1A1A1A"/>
                </a:solidFill>
                <a:latin typeface="Segoe UI"/>
              </a:rPr>
              <a:t>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663440" y="52578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50" b="0" i="0">
                <a:solidFill>
                  <a:srgbClr val="1A1A1A"/>
                </a:solidFill>
                <a:latin typeface="Segoe UI"/>
              </a:rPr>
              <a:t>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852160" y="525780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50" b="1" i="0">
                <a:solidFill>
                  <a:srgbClr val="2A78D6"/>
                </a:solidFill>
                <a:latin typeface="Segoe UI"/>
              </a:rPr>
              <a:t>0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502920" y="5623560"/>
            <a:ext cx="6355080" cy="0"/>
          </a:xfrm>
          <a:prstGeom prst="line">
            <a:avLst/>
          </a:prstGeom>
          <a:ln w="6350">
            <a:solidFill>
              <a:srgbClr val="E4E4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ounded Rectangle 45"/>
          <p:cNvSpPr/>
          <p:nvPr/>
        </p:nvSpPr>
        <p:spPr>
          <a:xfrm>
            <a:off x="7132320" y="2377440"/>
            <a:ext cx="4553712" cy="4096512"/>
          </a:xfrm>
          <a:prstGeom prst="roundRect">
            <a:avLst>
              <a:gd name="adj" fmla="val 4500"/>
            </a:avLst>
          </a:prstGeom>
          <a:solidFill>
            <a:srgbClr val="F7F7F7"/>
          </a:solidFill>
          <a:ln w="9525">
            <a:solidFill>
              <a:srgbClr val="E4E4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132320" y="2377440"/>
            <a:ext cx="41275" cy="409651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360920" y="2537440"/>
            <a:ext cx="4165112" cy="3776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50" b="1" i="0">
                <a:solidFill>
                  <a:srgbClr val="1A1A1A"/>
                </a:solidFill>
                <a:latin typeface="Segoe UI"/>
              </a:rPr>
              <a:t>Vendedor: </a:t>
            </a:r>
            <a:r>
              <a:rPr sz="1150" b="0" i="1">
                <a:solidFill>
                  <a:srgbClr val="444444"/>
                </a:solidFill>
                <a:latin typeface="Segoe UI"/>
              </a:rPr>
              <a:t>“A gente também aluga pesado, cê sabia? Caminhão, picape. Olha, se você soubesse antes talvez tivesse locado em vez de comprar o pequeno.”</a:t>
            </a:r>
          </a:p>
          <a:p>
            <a:pPr>
              <a:spcAft>
                <a:spcPts val="600"/>
              </a:spcAft>
            </a:pPr>
            <a:r>
              <a:rPr sz="1150" b="1" i="0">
                <a:solidFill>
                  <a:srgbClr val="1A1A1A"/>
                </a:solidFill>
                <a:latin typeface="Segoe UI"/>
              </a:rPr>
              <a:t>Cliente: </a:t>
            </a:r>
            <a:r>
              <a:rPr sz="1150" b="0" i="1">
                <a:solidFill>
                  <a:srgbClr val="444444"/>
                </a:solidFill>
                <a:latin typeface="Segoe UI"/>
              </a:rPr>
              <a:t>“Me passa isso! Me passa a cotação disso aí.”</a:t>
            </a:r>
          </a:p>
          <a:p>
            <a:pPr>
              <a:spcBef>
                <a:spcPts val="1000"/>
              </a:spcBef>
            </a:pPr>
            <a:r>
              <a:rPr sz="1050" b="1" i="0">
                <a:solidFill>
                  <a:srgbClr val="2A78D6"/>
                </a:solidFill>
                <a:latin typeface="Segoe UI"/>
              </a:rPr>
              <a:t>— Cliente 22153452</a:t>
            </a:r>
            <a:r>
              <a:rPr sz="1050" b="0" i="0">
                <a:solidFill>
                  <a:srgbClr val="8A8A8A"/>
                </a:solidFill>
                <a:latin typeface="Segoe UI"/>
              </a:rPr>
              <a:t> · 7-8 carros leves + 2 caminhões próprios fora da Localiza</a:t>
            </a:r>
          </a:p>
          <a:p>
            <a:pPr>
              <a:spcBef>
                <a:spcPts val="800"/>
              </a:spcBef>
            </a:pPr>
            <a:r>
              <a:rPr sz="1050" b="0" i="1">
                <a:solidFill>
                  <a:srgbClr val="444444"/>
                </a:solidFill>
                <a:latin typeface="Segoe UI"/>
              </a:rPr>
              <a:t>Descoberto por acidente, numa pergunta de curiosidade — não por script. A consistência entre amostras independentes já justifica testar um script de sondagem.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2920" y="6473952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8A8A8A"/>
                </a:solidFill>
                <a:latin typeface="Segoe UI"/>
              </a:rPr>
              <a:t>Aletheia RAC — Inteligência Comercial Frota PJ — base auditada de 6.623 ligações (jun–jul/2026) — RMR 09/07/2026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