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23160"/>
            <a:ext cx="12188952" cy="20116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A020"/>
                </a:solidFill>
              </a:rPr>
              <a:t>INTELIGÊNCIA COMERCIAL  ·  LOCALIZA FROTA PJ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O que o vendedor faz
para fechar um contrato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11640312" cy="25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1.275 ligações analisadas  ·  jun/2026  ·  Análise via IA + Scoring Python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57600"/>
            <a:ext cx="2377440" cy="1097280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3075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A020"/>
                </a:solidFill>
              </a:rPr>
              <a:t>1.275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251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F0F1"/>
                </a:solidFill>
              </a:rPr>
              <a:t>ligações analisadas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3657600"/>
            <a:ext cx="2377440" cy="1097280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73075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4A90D9"/>
                </a:solidFill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3251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F0F1"/>
                </a:solidFill>
              </a:rPr>
              <a:t>comportamentos avaliados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2377440" cy="1097280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73075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7AE60"/>
                </a:solidFill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3251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F0F1"/>
                </a:solidFill>
              </a:rPr>
              <a:t>dimensões de análise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3657600"/>
            <a:ext cx="2377440" cy="1097280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373075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67E22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3251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F0F1"/>
                </a:solidFill>
              </a:rPr>
              <a:t>hipóteses confirmadas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Confidencial —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 onde vieram esses dados e como foram analisados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61288"/>
            <a:ext cx="11640312" cy="25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11640312" cy="749808"/>
          </a:xfrm>
          <a:prstGeom prst="rect">
            <a:avLst/>
          </a:prstGeom>
          <a:solidFill>
            <a:srgbClr val="0D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264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A020"/>
                </a:solidFill>
              </a:rPr>
              <a:t>❝  O que o vendedor faz para fechar um contrato?  ❞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94560"/>
            <a:ext cx="3749039" cy="2560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042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20"/>
                </a:solidFill>
              </a:rPr>
              <a:t>🎙️ FONTE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1576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• 1.275 ligações gravadas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1546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• Localiza Frota PJ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59359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• Período: jun/2026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03250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• Transcrição automática (STT)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194560"/>
            <a:ext cx="3749039" cy="2560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3042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20"/>
                </a:solidFill>
              </a:rPr>
              <a:t>🤖 IA — GEMINI 2.5 FLASH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71576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• 15 prompts em 3 camadas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1546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• 26 batches de 50 ligações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59359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• P1–P2: conversão e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03250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• P5–P6: Challenger e oportunidades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194560"/>
            <a:ext cx="3749039" cy="2560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3042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20"/>
                </a:solidFill>
              </a:rPr>
              <a:t>⚙️ SCORING 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71576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• 10 comportamentos B1–B10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1546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• 0–30 pontos por ligação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59359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• Resultado em &lt; 30 segundos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03250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• Zero IA — lógica pura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892040"/>
            <a:ext cx="11640312" cy="658368"/>
          </a:xfrm>
          <a:prstGeom prst="rect">
            <a:avLst/>
          </a:prstGeom>
          <a:solidFill>
            <a:srgbClr val="18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00176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 Pela primeira vez: quantas vezes cada comportamento aparece nos fechamentos vs nos não-fechamentos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623560"/>
            <a:ext cx="1164031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74243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7E22"/>
                </a:solidFill>
              </a:rPr>
              <a:t>IMPORTANTE: análise atual = 50 ligações via LLM (run parcial). Run completo (1.275 ligações) disponível 29/06 após processamento Qui–Dom.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</a:rPr>
              <a:t>PANORAMA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 que acontece nas ligações — distribuição geral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61288"/>
            <a:ext cx="11640312" cy="25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5486400" cy="2468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020"/>
                </a:solidFill>
              </a:rPr>
              <a:t>DESFECHOS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86868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1892808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Não era venda / suporte puro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87168"/>
            <a:ext cx="86868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87168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2551176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Interessou, não fechou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45536"/>
            <a:ext cx="86868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45536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" y="3209544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Fechou (novo, renovação, upsell)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298448"/>
            <a:ext cx="5879592" cy="2468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4173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020"/>
                </a:solidFill>
              </a:rPr>
              <a:t>TIPO DE FECHAMENTO USADO (FC1–FC5)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1828800"/>
            <a:ext cx="566928" cy="3383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1847088"/>
            <a:ext cx="566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FC3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1828800"/>
            <a:ext cx="640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74C3C"/>
                </a:solidFill>
              </a:rPr>
              <a:t>49%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1828800"/>
            <a:ext cx="4206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"Qualquer coisa me chama"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2258568"/>
            <a:ext cx="566928" cy="3383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2276856"/>
            <a:ext cx="566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FC2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2258568"/>
            <a:ext cx="640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7E22"/>
                </a:solidFill>
              </a:rPr>
              <a:t>33%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2258568"/>
            <a:ext cx="4206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Próximo passo só do vendedor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9632" y="2688336"/>
            <a:ext cx="566928" cy="33832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2" y="2706624"/>
            <a:ext cx="566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FC4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2688336"/>
            <a:ext cx="640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CF0F1"/>
                </a:solidFill>
              </a:rPr>
              <a:t>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2688336"/>
            <a:ext cx="4206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Aberto — nada definido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3118104"/>
            <a:ext cx="566928" cy="3383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3136392"/>
            <a:ext cx="566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FC5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3118104"/>
            <a:ext cx="640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A90D9"/>
                </a:solidFill>
              </a:rPr>
              <a:t>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6368" y="3118104"/>
            <a:ext cx="4206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Diretivo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2" y="3547872"/>
            <a:ext cx="566928" cy="3383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2" y="3566160"/>
            <a:ext cx="566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FC1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547872"/>
            <a:ext cx="640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16368" y="3547872"/>
            <a:ext cx="4206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Compromisso duplo 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931920"/>
            <a:ext cx="11640312" cy="658368"/>
          </a:xfrm>
          <a:prstGeom prst="rect">
            <a:avLst/>
          </a:prstGeom>
          <a:solidFill>
            <a:srgbClr val="5C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04164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⚠️  FC1 (compromisso duplo com data + responsável de ambos os lados) apareceu apenas 5 vezes em toda a análise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709160"/>
            <a:ext cx="5486400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8280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020"/>
                </a:solidFill>
              </a:rPr>
              <a:t>CHALLENGER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193792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69% das ligações tiveram comportamento Challenger
CH1 (custo oculto) e CH6 (antecipação de problema) empatados: 14x cada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4709160"/>
            <a:ext cx="5879592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48280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020"/>
                </a:solidFill>
              </a:rPr>
              <a:t>SUPORTE SEM AÇÃO COMERCIAL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9632" y="5193792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62% das ligações = suporte puro, 0 tentativa comercial
Renovações chegam sozinhas — sem sondagem, sem upsell, sem próximo passo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</a:rPr>
              <a:t>CORRELAÇÃO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Quais comportamentos mais correlacionam com fechamento de contrato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61288"/>
            <a:ext cx="11640312" cy="25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292608" cy="4297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2926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94360" cy="4297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371600"/>
            <a:ext cx="594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</a:rPr>
              <a:t>Código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61288" y="1298448"/>
            <a:ext cx="4480560" cy="4297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1371600"/>
            <a:ext cx="4480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</a:rPr>
              <a:t>Comportamento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41848" y="1298448"/>
            <a:ext cx="1371600" cy="4297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7568" y="1371600"/>
            <a:ext cx="1371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</a:rPr>
              <a:t>Fechou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3448" y="1298448"/>
            <a:ext cx="1554480" cy="4297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9168" y="1371600"/>
            <a:ext cx="1554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</a:rPr>
              <a:t>Não fechou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67928" y="1298448"/>
            <a:ext cx="1371600" cy="4297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13648" y="1371600"/>
            <a:ext cx="1371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</a:rPr>
              <a:t>Diferença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728216"/>
            <a:ext cx="292608" cy="417068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810512"/>
            <a:ext cx="201168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1728216"/>
            <a:ext cx="594360" cy="417068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1810512"/>
            <a:ext cx="5029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</a:rPr>
              <a:t>B10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61288" y="1728216"/>
            <a:ext cx="4480560" cy="417068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1810512"/>
            <a:ext cx="43891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Perguntou sobre concorrente/frota própria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41848" y="1728216"/>
            <a:ext cx="1371600" cy="417068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87568" y="1810512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61,1%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13448" y="1728216"/>
            <a:ext cx="1554480" cy="417068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59168" y="1810512"/>
            <a:ext cx="146304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6,2%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67928" y="1728216"/>
            <a:ext cx="1371600" cy="417068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13648" y="1810512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7AE60"/>
                </a:solidFill>
              </a:rPr>
              <a:t>+54,9%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157984"/>
            <a:ext cx="292608" cy="417068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240280"/>
            <a:ext cx="201168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157984"/>
            <a:ext cx="594360" cy="417068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2240280"/>
            <a:ext cx="5029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</a:rPr>
              <a:t>B1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61288" y="2157984"/>
            <a:ext cx="4480560" cy="417068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07008" y="2240280"/>
            <a:ext cx="43891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Diagnóstico antes do produto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41848" y="2157984"/>
            <a:ext cx="1371600" cy="417068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87568" y="2240280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55,6%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13448" y="2157984"/>
            <a:ext cx="1554480" cy="417068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9168" y="2240280"/>
            <a:ext cx="146304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12,5%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67928" y="2157984"/>
            <a:ext cx="1371600" cy="417068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13648" y="2240280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7AE60"/>
                </a:solidFill>
              </a:rPr>
              <a:t>+43,1%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2587752"/>
            <a:ext cx="292608" cy="417068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2670048"/>
            <a:ext cx="201168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587752"/>
            <a:ext cx="594360" cy="417068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" y="2670048"/>
            <a:ext cx="5029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</a:rPr>
              <a:t>B5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61288" y="2587752"/>
            <a:ext cx="4480560" cy="417068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8" y="2670048"/>
            <a:ext cx="43891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Upsell conectado à dor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41848" y="2587752"/>
            <a:ext cx="1371600" cy="417068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87568" y="2670048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27,8%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13448" y="2587752"/>
            <a:ext cx="1554480" cy="417068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59168" y="2670048"/>
            <a:ext cx="146304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0,0%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67928" y="2587752"/>
            <a:ext cx="1371600" cy="417068"/>
          </a:xfrm>
          <a:prstGeom prst="rect">
            <a:avLst/>
          </a:prstGeom>
          <a:solidFill>
            <a:srgbClr val="22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13648" y="2670048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7AE60"/>
                </a:solidFill>
              </a:rPr>
              <a:t>+27,8%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017520"/>
            <a:ext cx="292608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099816"/>
            <a:ext cx="201168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3017520"/>
            <a:ext cx="59436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8" y="3099816"/>
            <a:ext cx="5029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B3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61288" y="3017520"/>
            <a:ext cx="448056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7008" y="3099816"/>
            <a:ext cx="43891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Usou histórico do cliente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41848" y="3017520"/>
            <a:ext cx="137160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87568" y="3099816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55,6%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13448" y="3017520"/>
            <a:ext cx="155448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59168" y="3099816"/>
            <a:ext cx="146304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31,2%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67928" y="3017520"/>
            <a:ext cx="137160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13648" y="3099816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90D9"/>
                </a:solidFill>
              </a:rPr>
              <a:t>+24,4%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3447288"/>
            <a:ext cx="292608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3529584"/>
            <a:ext cx="201168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" y="3447288"/>
            <a:ext cx="59436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2648" y="3529584"/>
            <a:ext cx="5029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B7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61288" y="3447288"/>
            <a:ext cx="448056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07008" y="3529584"/>
            <a:ext cx="43891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Prometeu batalhar internamente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41848" y="3447288"/>
            <a:ext cx="137160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87568" y="3529584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38,9%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13448" y="3447288"/>
            <a:ext cx="155448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59168" y="3529584"/>
            <a:ext cx="146304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15,6%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67928" y="3447288"/>
            <a:ext cx="137160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13648" y="3529584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90D9"/>
                </a:solidFill>
              </a:rPr>
              <a:t>+23,3%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3877056"/>
            <a:ext cx="292608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3959352"/>
            <a:ext cx="201168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3877056"/>
            <a:ext cx="59436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2648" y="3959352"/>
            <a:ext cx="5029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B4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61288" y="3877056"/>
            <a:ext cx="448056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207008" y="3959352"/>
            <a:ext cx="43891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Avisou risco ao cliente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41848" y="3877056"/>
            <a:ext cx="137160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687568" y="3959352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33,3%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013448" y="3877056"/>
            <a:ext cx="155448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059168" y="3959352"/>
            <a:ext cx="146304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9,4%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67928" y="3877056"/>
            <a:ext cx="137160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13648" y="3959352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90D9"/>
                </a:solidFill>
              </a:rPr>
              <a:t>+23,9%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4306824"/>
            <a:ext cx="292608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0040" y="4389120"/>
            <a:ext cx="201168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6928" y="4306824"/>
            <a:ext cx="59436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2648" y="4389120"/>
            <a:ext cx="5029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B8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61288" y="4306824"/>
            <a:ext cx="448056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207008" y="4389120"/>
            <a:ext cx="43891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Ligou proativamente por motivo comercial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41848" y="4306824"/>
            <a:ext cx="137160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87568" y="4389120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66,7%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013448" y="4306824"/>
            <a:ext cx="155448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059168" y="4389120"/>
            <a:ext cx="146304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43,8%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567928" y="4306824"/>
            <a:ext cx="137160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13648" y="4389120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+22,9%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4736592"/>
            <a:ext cx="292608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20040" y="4818888"/>
            <a:ext cx="201168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66928" y="4736592"/>
            <a:ext cx="59436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2648" y="4818888"/>
            <a:ext cx="5029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B2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161288" y="4736592"/>
            <a:ext cx="448056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207008" y="4818888"/>
            <a:ext cx="43891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Âncora de preço alto primeiro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641848" y="4736592"/>
            <a:ext cx="137160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687568" y="4818888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11,1%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013448" y="4736592"/>
            <a:ext cx="155448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059168" y="4818888"/>
            <a:ext cx="146304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0,0%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567928" y="4736592"/>
            <a:ext cx="137160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613648" y="4818888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+11,1%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74320" y="5166360"/>
            <a:ext cx="292608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20040" y="5248656"/>
            <a:ext cx="201168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9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5166360"/>
            <a:ext cx="59436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12648" y="5248656"/>
            <a:ext cx="5029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B9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61288" y="5166360"/>
            <a:ext cx="448056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207008" y="5248656"/>
            <a:ext cx="43891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Conhecimento pessoal além do contrato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641848" y="5166360"/>
            <a:ext cx="137160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687568" y="5248656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5,6%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013448" y="5166360"/>
            <a:ext cx="155448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059168" y="5248656"/>
            <a:ext cx="146304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0,0%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567928" y="5166360"/>
            <a:ext cx="137160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613648" y="5248656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+5,6%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74320" y="5596128"/>
            <a:ext cx="292608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20040" y="5678424"/>
            <a:ext cx="201168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10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66928" y="5596128"/>
            <a:ext cx="59436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12648" y="5678424"/>
            <a:ext cx="5029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B6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161288" y="5596128"/>
            <a:ext cx="448056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207008" y="5678424"/>
            <a:ext cx="438912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Urgência com fato verificável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641848" y="5596128"/>
            <a:ext cx="137160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687568" y="5678424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11,1%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013448" y="5596128"/>
            <a:ext cx="155448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059168" y="5678424"/>
            <a:ext cx="146304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6,2%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567928" y="5596128"/>
            <a:ext cx="1371600" cy="4170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13648" y="5678424"/>
            <a:ext cx="1280160" cy="40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+4,9%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74320" y="656539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</a:rPr>
              <a:t>* Dados baseados em análise parcial (50 ligações via LLM). Ranking definitivo disponível 29/06 com 1.275 ligações.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2194560" cy="34747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554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</a:rPr>
              <a:t>#1 COMPORTAMENTO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30352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B10 — Quem sonda concorrente ou frota própria fecha muito mais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40312" cy="25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2926080" cy="1554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53312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8A020"/>
                </a:solidFill>
              </a:rPr>
              <a:t>+54,9pp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945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F0F1"/>
                </a:solidFill>
              </a:rPr>
              <a:t>de vantagem
nos fechamentos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298448"/>
            <a:ext cx="3200400" cy="1554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38988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Em fechamentos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1691640"/>
            <a:ext cx="256032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7099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61,1%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2140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Em não-fechamentos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2441448"/>
            <a:ext cx="347472" cy="2926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24414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6,2%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07792"/>
            <a:ext cx="11640312" cy="224028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907792"/>
            <a:ext cx="73152" cy="22402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999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90D9"/>
                </a:solidFill>
              </a:rPr>
              <a:t>Transcrição real — Cliente 27244325 | 882s | Resultado: FECHOU NOVO — R$ 3.161/mês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346704"/>
            <a:ext cx="11247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A: Cristiano, sou executivo comercial — seu cadastro foi concluído agora. Resolvi te ligar.
C: A gente utiliza fora a frota própria. Fizemos aquisição de novos veículos, mas precisamos de um veículo para um colaborador que precisa de mobilidade.
A: Maravilha! Para simular corretamente — qual cidade? A partir de quando? Mensal ou diário? Qual modelo? Quantos KM você prevê por mês?
C: Uns 60 a 70 dias corridos. 2.000 km mensais cobre tranquilamente.
[Resultado: proposta feita, aprovada na hora, retirada agendada para o mesmo dia]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349240"/>
            <a:ext cx="11640312" cy="658368"/>
          </a:xfrm>
          <a:prstGeom prst="rect">
            <a:avLst/>
          </a:prstGeom>
          <a:solidFill>
            <a:srgbClr val="18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45896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 Frota própria revelada = contexto para proposta exata. Sem essa pergunta, o vendedor propõe no escuro.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108192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A020"/>
                </a:solidFill>
              </a:rPr>
              <a:t>Perguntas-chave B10:  "Vocês têm frota própria?" · "Trabalham com outros fornecedores de veículo?"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2194560" cy="34747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554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</a:rPr>
              <a:t>#2 COMPORTAMENTO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30352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B1 — Diagnóstico antes do produto: entende antes de apresentar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40312" cy="25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2926080" cy="1554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53312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8A020"/>
                </a:solidFill>
              </a:rPr>
              <a:t>+43,1pp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945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F0F1"/>
                </a:solidFill>
              </a:rPr>
              <a:t>Aparece em 55,6%
dos fechamentos
vs 12,5% dos não-fechamentos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07792"/>
            <a:ext cx="11640312" cy="224028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907792"/>
            <a:ext cx="73152" cy="22402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99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90D9"/>
                </a:solidFill>
              </a:rPr>
              <a:t>Transcrição real — mesma ligação 27244325 — sequência de diagnóstico antes de qualquer preço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46704"/>
            <a:ext cx="11247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A: Precisa retirar o carro em qual cidade?
C: Imperatriz, Maranhão.
A: Posso simular a partir de qual data?
C: Amanhã, quarta no máximo.
A: O interesse para vocês — aluguel mensal para manter à disposição, ou somente uma viagem?
C: Seriam uns 60 a 70 dias corridos.
A: Referente ao carro — qual modelo é de seu interesse?
C: Quatro portas, popular, ar-condicionado. O pacote de baixo está ótimo.
A: 2.000 km mensais cobriria?
C: Sim, 2.000 km cobre tranquilamente.
[Após 5 perguntas: cotação apresentada, aceita sem negociação]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257800"/>
            <a:ext cx="5577840" cy="658368"/>
          </a:xfrm>
          <a:prstGeom prst="rect">
            <a:avLst/>
          </a:prstGeom>
          <a:solidFill>
            <a:srgbClr val="18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6752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COM B1: proposta personalizada → aceita sem negociação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5257800"/>
            <a:ext cx="5879592" cy="658368"/>
          </a:xfrm>
          <a:prstGeom prst="rect">
            <a:avLst/>
          </a:prstGeom>
          <a:solidFill>
            <a:srgbClr val="5C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536752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❌  SEM B1: "Quer ver os preços?" → cliente diz não → encerra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016752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A020"/>
                </a:solidFill>
              </a:rPr>
              <a:t>Checklist B1: cidade · data · período (mensal/diário) · modelo · km estimado · usuário do carro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2194560" cy="34747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554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</a:rPr>
              <a:t>#3 COMPORTAMENTO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30352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B5 — Upsell conectado à dor: 0% nos não-fechamentos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40312" cy="25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5303520" cy="20116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020"/>
                </a:solidFill>
              </a:rPr>
              <a:t>DESCOBERTA MAIS SURPREENDENTE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Nenhuma ligação sem fechamento
teve upsell conectado à dor.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42032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Quando conectou produto a uma necessidade real → converteu.
Quando ofertou sem contexto → não converteu. Sem exceção.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98448"/>
            <a:ext cx="5971032" cy="20116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14813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Nos fechamentos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865376"/>
            <a:ext cx="4572000" cy="292608"/>
          </a:xfrm>
          <a:prstGeom prst="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08192" y="1865376"/>
            <a:ext cx="1271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0" y="186537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</a:rPr>
              <a:t>27,8%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23042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Nos não-fechamentos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08192" y="2688336"/>
            <a:ext cx="4572000" cy="292608"/>
          </a:xfrm>
          <a:prstGeom prst="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26883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74C3C"/>
                </a:solidFill>
              </a:rPr>
              <a:t>0,0%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456432"/>
            <a:ext cx="11640312" cy="502920"/>
          </a:xfrm>
          <a:prstGeom prst="rect">
            <a:avLst/>
          </a:prstGeom>
          <a:solidFill>
            <a:srgbClr val="1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B5 = identifica uma DOR real do cliente e conecta UM produto específico a ela — sem oferta genérica do portfólio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069080"/>
            <a:ext cx="5486400" cy="1280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788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✅  COM B5 (converte)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53712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"Você mencionou que o diretor viaja e já teve problema de sinistro — nossa proteção total cobre sem franquia. Faz sentido incluir?"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069080"/>
            <a:ext cx="5879592" cy="1280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2" y="41788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❌  SEM B5 (não converte)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455371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"Também temos telemetria e proteção adicional, caso tenha interesse, pode me falar que eu vejo o que consigo fazer."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349240"/>
            <a:ext cx="11640312" cy="658368"/>
          </a:xfrm>
          <a:prstGeom prst="rect">
            <a:avLst/>
          </a:prstGeom>
          <a:solidFill>
            <a:srgbClr val="18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45896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 A diferença entre B5 e não-B5 é uma pergunta de diagnóstico antes da oferta. Upsell sem contexto = ruído.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108192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A020"/>
                </a:solidFill>
              </a:rPr>
              <a:t>Script: "[dor identificada] → Por isso quero te apresentar [produto específico] — resolve exatamente isso."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192024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554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CHALLENGER SALE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30352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CH1 — Custo oculto revelado: a arma mais eficaz (e mais rara)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40312" cy="25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4297680" cy="3200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020"/>
                </a:solidFill>
              </a:rPr>
              <a:t>FREQUÊNCIA NA AMOSTRA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0512"/>
            <a:ext cx="594360" cy="34747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</a:rPr>
              <a:t>CH1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1856232"/>
            <a:ext cx="2194560" cy="2560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18105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14x  Custo oculto revelado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22576"/>
            <a:ext cx="59436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4086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0432" y="2368296"/>
            <a:ext cx="2194560" cy="2560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232257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14x  Antecipação de problema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34640"/>
            <a:ext cx="594360" cy="34747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5292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70432" y="2880360"/>
            <a:ext cx="1097280" cy="2560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28346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7x  Urgência por regra real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46704"/>
            <a:ext cx="594360" cy="34747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36499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70432" y="3392424"/>
            <a:ext cx="783771" cy="2560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07008" y="334670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5x  Dor → produto conectado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58768"/>
            <a:ext cx="594360" cy="34747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7705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70432" y="3904488"/>
            <a:ext cx="470262" cy="2560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" y="38587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3x  Necessidade não declarada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880360"/>
            <a:ext cx="11640312" cy="224028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2880360"/>
            <a:ext cx="73152" cy="22402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971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90D9"/>
                </a:solidFill>
              </a:rPr>
              <a:t>Transcrição real — Cliente 13382750 | 342s | Colega alugou 'mais barato' em outro lugar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319272"/>
            <a:ext cx="11247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A: O preço de vocês aqui está no menor. A Localiza teve um ajuste — mas o que acontece no sinistro: sem cobertura total, eles cobram tudo na indenização. Com a Localiza isso está coberto.
C: Pois é... ele pegou o plano mais básico do seguro, talvez seja isso.
A: A taxa de operação nossa é 12% e a deles é 20%. Eu não estou entendendo o que aconteceu.
C: Com vocês eu nem fiz cotação — fui direto. Desde aquela vez que a gente conversou, já fechei com vocês.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230368"/>
            <a:ext cx="11640312" cy="749808"/>
          </a:xfrm>
          <a:prstGeom prst="rect">
            <a:avLst/>
          </a:prstGeom>
          <a:solidFill>
            <a:srgbClr val="1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34009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ANATOMIA DO CH1:  (1) cliente menciona preço menor  →  (2) vendedor valida: "realmente está mais barato"  →  (3) revela custo invisível (sinistro, cobertura, taxa, prazo)  →  (4) cliente recalcula: Localiza fica mais barata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0807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A020"/>
                </a:solidFill>
              </a:rPr>
              <a:t>CH1 = a diferença entre "Localiza é mais cara" e "Localiza é mais barata quando conta tudo"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24688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554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MAIOR VAZAMENTO DO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30352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FC3 vs FC1 — O fechamento que vaza vs o que retém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40312" cy="25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5577840" cy="4343400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98448"/>
            <a:ext cx="557784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441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FC3 — "Qualquer coisa me chama"  ·  49% das ligações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288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6666"/>
                </a:solidFill>
              </a:rPr>
              <a:t>Transcrição real — 66s — zero negócio gerado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130552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A: Geraldo, executivo da Localiza. Seu cadastro está ativo desde janeiro mas ainda não tivemos o prazer de atendê-los.
C: Não uso muito não, mas pode deixar ativo.
A: Eu te mando um e-mail com o telefone da minha mesa. Qualquer situação futura, Diego, pode nos procurar.
C: Tá bom. Valeu, tchau.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1148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888"/>
                </a:solidFill>
              </a:rPr>
              <a:t>❌  Nenhum próximo passo definido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4074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888"/>
                </a:solidFill>
              </a:rPr>
              <a:t>❌  Nenhum compromisso do cliente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70001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888"/>
                </a:solidFill>
              </a:rPr>
              <a:t>❌  Nenhuma razão para ligar de volta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9926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888"/>
                </a:solidFill>
              </a:rPr>
              <a:t>❌  Vai para o arquivo morto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298448"/>
            <a:ext cx="5833872" cy="4343400"/>
          </a:xfrm>
          <a:prstGeom prst="rect">
            <a:avLst/>
          </a:prstGeom>
          <a:solidFill>
            <a:srgbClr val="102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298448"/>
            <a:ext cx="5833872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34416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FC1 — Compromisso duplo  ·  apenas 5 ocorrências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8288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AA77"/>
                </a:solidFill>
              </a:rPr>
              <a:t>Como deveria ser — exemplo reconstituído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130552"/>
            <a:ext cx="5577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A: Diego, com base no histórico — o cadastro está ativo há 5 meses sem uso. Quero te propor um piloto de 30 dias com um veículo.
C: Pode ser, mas não sei quando vou precisar.
A: Entendo. Eu te mando a proposta hoje. Você me dá uma resposta até quinta às 14h? Assim garanto a disponibilidade pra esse mês.
C: Quinta às 14h, combinado.
A: Perfeito. Se não receber resposta, te ligo às 14h. Anotado aqui.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1148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FF99"/>
                </a:solidFill>
              </a:rPr>
              <a:t>✅  Próximo passo: vendedor E cliente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40740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FF99"/>
                </a:solidFill>
              </a:rPr>
              <a:t>✅  Data e horário definidos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7000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FF99"/>
                </a:solidFill>
              </a:rPr>
              <a:t>✅  Compromisso explícito do cliente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99262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FF99"/>
                </a:solidFill>
              </a:rPr>
              <a:t>✅  Vendedor liga se não receber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742432"/>
            <a:ext cx="11640312" cy="6583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A020"/>
                </a:solidFill>
              </a:rPr>
              <a:t>⚡  Migrar 20% dos FC3 para FC1 = multiplicar a fila ativa. Custo: zero. Mudança: uma pergunta a mais no final.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192024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554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RISCO SILENCIOSO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30352"/>
            <a:ext cx="116403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62% das ligações são suporte — oportunidade comercial zero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40312" cy="25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11640312" cy="8412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90D9"/>
                </a:solidFill>
              </a:rPr>
              <a:t>RENOVAÇÃO QUE CHEGOU SOZINHA — Cliente 25966050 | 170s | Score comercial: 0 | Resultado: FECHOU RENOVAÇÃO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C: Cristina, queria o link de renovação — não recebi.  A: Não recebeu? Vou mandar de novo. É o link de prorrogação do contrato.  C: Isso. E queria ver o boleto.  A: A fatura fica disponível amanhã, quando completa 30 dias.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5486400" cy="2011680"/>
          </a:xfrm>
          <a:prstGeom prst="rect">
            <a:avLst/>
          </a:prstGeom>
          <a:solidFill>
            <a:srgbClr val="2A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957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⚠️  O que esse padrão esconde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88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Cliente que renova por inércia migra por inércia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36391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Frota pode estar crescendo → sem sondagem = sem expansão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83863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Concorrente proativo leva a conta adormecida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31335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Score 0 = vendedor foi um roteador de e-mail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286000"/>
            <a:ext cx="5879592" cy="2011680"/>
          </a:xfrm>
          <a:prstGeom prst="rect">
            <a:avLst/>
          </a:prstGeom>
          <a:solidFill>
            <a:srgbClr val="18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23957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✅  Como essa ligação deveria terminar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2788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"Eldis, aproveitando — vocês aumentaram a frota?"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313639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"O contrato atual ainda atende a demanda de vocês?"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348386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"Posso te mandar uma proposta de telemetria — R$50/veículo?"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3831335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"Semana que vem ligo para confirmar que chegou o boleto."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434840"/>
            <a:ext cx="11640312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445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20"/>
                </a:solidFill>
              </a:rPr>
              <a:t>PROTOCOLO SUPORTE → OPORTUNIDADE:  suporte resolvido  +  1 pergunta de contexto  +  1 proposta específica  +  próximo passo com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138928"/>
            <a:ext cx="11640312" cy="868680"/>
          </a:xfrm>
          <a:prstGeom prst="rect">
            <a:avLst/>
          </a:prstGeom>
          <a:solidFill>
            <a:srgbClr val="1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2120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90D9"/>
                </a:solidFill>
              </a:rPr>
              <a:t>SCORE ALTO NEM SEMPRE FECHA — Cliente 26155999 | 621s | Score 13/18 (máximo da amostra) | Resultado: não fechou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3212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Vendedor fez tudo certo: B1+B3+B5+B6+B7+B10. Mas o contexto era suporte (vidro trincado) + 27 boletos em atraso. Comportamento comercial certo na hora errada não converte.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</a:rPr>
              <a:t>HIPÓTESES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 que os dados confirmam sobre o que fecha contrato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61288"/>
            <a:ext cx="11640312" cy="25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932688"/>
          </a:xfrm>
          <a:prstGeom prst="rect">
            <a:avLst/>
          </a:prstGeom>
          <a:solidFill>
            <a:srgbClr val="10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73152" cy="9326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43584"/>
            <a:ext cx="1645920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618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✅ CONFIRMADA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234440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Quem sonda concorrente/frota fecha muito mais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664208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B10 em 61% dos fechamentos vs 6% dos não-fechamentos — maior preditor individual da amostra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12848"/>
            <a:ext cx="11640312" cy="932688"/>
          </a:xfrm>
          <a:prstGeom prst="rect">
            <a:avLst/>
          </a:prstGeom>
          <a:solidFill>
            <a:srgbClr val="10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212848"/>
            <a:ext cx="73152" cy="9326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267712"/>
            <a:ext cx="1645920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✅ CONFIRMADA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258568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Diagnóstico antes do produto é diferenciador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688336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B1 em 55,6% dos fechamentos vs 12,5%. Sem diagnóstico, o preço vira o único argumento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36976"/>
            <a:ext cx="11640312" cy="932688"/>
          </a:xfrm>
          <a:prstGeom prst="rect">
            <a:avLst/>
          </a:prstGeom>
          <a:solidFill>
            <a:srgbClr val="2E2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236976"/>
            <a:ext cx="73152" cy="93268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291840"/>
            <a:ext cx="1645920" cy="2926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31012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</a:rPr>
              <a:t>✅ SURPREENDENTE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282696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Upsell conectado à dor é binário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712464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B5 em 0% dos não-fechamentos — quando conectou a dor, converteu. Sem exceção na amostra.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261104"/>
            <a:ext cx="11640312" cy="932688"/>
          </a:xfrm>
          <a:prstGeom prst="rect">
            <a:avLst/>
          </a:prstGeom>
          <a:solidFill>
            <a:srgbClr val="2E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261104"/>
            <a:ext cx="73152" cy="9326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315968"/>
            <a:ext cx="1645920" cy="2926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3342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✅ CONFIRMADA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4306824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FC3 domina o time — FC1 é raridade crítica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736592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49% das ligações encerram com convite genérico. FC1 (compromisso duplo) apareceu apenas 5 vezes.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285232"/>
            <a:ext cx="11640312" cy="93268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5285232"/>
            <a:ext cx="73152" cy="9326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340096"/>
            <a:ext cx="1645920" cy="2926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35838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✅ CONFIRMADA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5330952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62% das ligações são suporte puro — potencial comercial zero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760720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Renovações chegam sozinhas, sem sondagem de expansão. Risco: churn por inércia.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58368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</a:rPr>
              <a:t>* Análise parcial (50 lig). Confirmação com 1.275 ligações disponível 29/06.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Top 5 ações para os próximos 30 dias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61288"/>
            <a:ext cx="11640312" cy="25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93268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02920" cy="93268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A4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234440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Treinar a pergunta B10 em 100% das ligações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64208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"Vocês têm frota própria além das locações?" / "Trabalham com outros fornecedores?" — é a pergunta com maior correlação com fechamento. Quase ninguém faz.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0" y="1463040"/>
            <a:ext cx="1828800" cy="3200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1481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</a:rPr>
              <a:t>IMPACTO ALTO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12848"/>
            <a:ext cx="11640312" cy="93268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212848"/>
            <a:ext cx="502920" cy="9326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39572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58568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Substituir FC3 por FC1 como padrão de fechamento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688336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Checklist de 3 itens: (a) o que eu faço, (b) o que o cliente faz, (c) data/hora. Custo: zero. Cada FC3 substituído é uma oportunidade que volta à fila ativa.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2487168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25054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IMPACTO ALTO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236976"/>
            <a:ext cx="11640312" cy="93268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236976"/>
            <a:ext cx="502920" cy="9326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41985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282696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Script CH1 para objeção de preço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12464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Quando cliente mencionar concorrente mais barato: revelar taxa de sinistro, cobertura, taxa de operação (12% vs 20%). Transformar "mais caro" em "mais barato no total".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6960" y="3511296"/>
            <a:ext cx="1828800" cy="3200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35295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IMPACTO ALTO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261104"/>
            <a:ext cx="11640312" cy="93268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261104"/>
            <a:ext cx="502920" cy="9326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44398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306824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Checklist de 5 perguntas B1 antes de qualquer proposta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736592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Cidade · Data · Período · Modelo · KM estimado. Nenhuma cotação sem essas 5 respostas — proposta personalizada fecha mais.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66960" y="4535424"/>
            <a:ext cx="182880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4553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IMPACTO MÉDIO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285232"/>
            <a:ext cx="11640312" cy="93268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5285232"/>
            <a:ext cx="502920" cy="93268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546811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A4A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330952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Protocolo suporte → oportunidade comercial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760720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Todo suporte resolvido + 1 pergunta de contexto + 1 proposta conectada à dor + próximo passo com data. Renovação passiva → oportunidade ativa.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66960" y="5559552"/>
            <a:ext cx="1828800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66960" y="5577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</a:rPr>
              <a:t>IMPACTO MÉDIO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</a:rPr>
              <a:t>ROADMAP DA ANÁLISE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Completando as 1.275 ligações — cronograma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61288"/>
            <a:ext cx="11640312" cy="25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103120" cy="3200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103120" cy="59436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</a:rPr>
              <a:t>QUI
26/06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99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P1+P2
Conversão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Score B1–B10 completo
26 batches × 50 lig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83945230280" y="256032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A02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371600"/>
            <a:ext cx="2103120" cy="3200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1371600"/>
            <a:ext cx="2103120" cy="5943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13898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SEX
27/06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20299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P5+P6
Challenger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25603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CH1–CH7 completos
Oportunidades em R$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183942898560" y="256032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A020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1371600"/>
            <a:ext cx="2103120" cy="3200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1371600"/>
            <a:ext cx="210312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13898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SAB
28/06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20299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P9+P10
Fechamento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5603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FC1–FC5 por vendedor
Promessas e follow-up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183940566840" y="256032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A020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59" y="1371600"/>
            <a:ext cx="2103120" cy="3200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59" y="1371600"/>
            <a:ext cx="210312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59" y="13898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DOM
29/06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7" y="20299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Síntese
Final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2087" y="25603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Ranking definitivo
Hipóteses rankeadas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183938235120" y="256032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A020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1371600"/>
            <a:ext cx="2103120" cy="3200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84080" y="1371600"/>
            <a:ext cx="2103120" cy="59436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13898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</a:rPr>
              <a:t>SEG
30/06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20299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Apresentação
Completa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25603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1.275 ligações
Validadas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754880"/>
            <a:ext cx="11640312" cy="73152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8737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 a análise completa: ranking definitivo B1–B10 nas 1.275 ligações, diferenças entre vendedores, oportunidades perdidas em R$ por tipo e por vendedor, e perfil do vendedor top.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596128"/>
            <a:ext cx="11640312" cy="6583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70585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Comando diário:  python scripts/analisar_gemini.py  — skip automático do que já foi processado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373368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CF0F1"/>
                </a:solidFill>
              </a:rPr>
              <a:t>Resultados completos confirmam ou refinam os padrões já identificados nesta apresentação.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"/>
            <a:ext cx="3200400" cy="32004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SLIDE OCULTO — DICIONÁRIO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38912"/>
            <a:ext cx="11640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Dicionário de Comportamentos B1–B10 — definições e exemplos de frase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32688"/>
            <a:ext cx="11640312" cy="25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5760720" cy="1024128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" y="1060704"/>
            <a:ext cx="566928" cy="31089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078992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</a:rPr>
              <a:t>B1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" y="1060704"/>
            <a:ext cx="658368" cy="3108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078992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F0F1"/>
                </a:solidFill>
              </a:rPr>
              <a:t>Peso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088136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Diagnóstico antes do produto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43560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Faz perguntas de contexto ANTES de apresentar preço ou produto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7190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A020"/>
                </a:solidFill>
              </a:rPr>
              <a:t>Ex: "Antes de te passar valores — qual cidade, a partir de quando e por quanto tempo?"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005840"/>
            <a:ext cx="5760720" cy="1024128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18504" y="1060704"/>
            <a:ext cx="566928" cy="31089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078992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</a:rPr>
              <a:t>B2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0296" y="1060704"/>
            <a:ext cx="658368" cy="3108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0296" y="1078992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F0F1"/>
                </a:solidFill>
              </a:rPr>
              <a:t>Peso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1088136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Âncora de preço alto primeiro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43560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Menciona plano mais completo primeiro, depois opções menores — ancora o valor percebido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7190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A020"/>
                </a:solidFill>
              </a:rPr>
              <a:t>Ex: "O plano completo fica R$3.800. Se preferir algo mais enxuto, temos a partir de R$2.100."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121408"/>
            <a:ext cx="5760720" cy="1024128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" y="2176272"/>
            <a:ext cx="566928" cy="31089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2194560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</a:rPr>
              <a:t>B3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2176272"/>
            <a:ext cx="658368" cy="3108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2194560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F0F1"/>
                </a:solidFill>
              </a:rPr>
              <a:t>Peso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2203704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Usou histórico do cliente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255117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Referencia dados de ligações ou contratos anteriores para personalizar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8346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A020"/>
                </a:solidFill>
              </a:rPr>
              <a:t>Ex: "Vejo que vocês têm 12 veículos conosco. Como está essa demanda agora?"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121408"/>
            <a:ext cx="5760720" cy="1024128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18504" y="2176272"/>
            <a:ext cx="566928" cy="31089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18504" y="2194560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</a:rPr>
              <a:t>B4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0296" y="2176272"/>
            <a:ext cx="658368" cy="3108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0296" y="2194560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F0F1"/>
                </a:solidFill>
              </a:rPr>
              <a:t>Peso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2203704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Avisou risco ao cliente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255117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Alerta sobre um risco futuro real (vencimento, sinistro, multa) — urgência verdadeira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28346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A020"/>
                </a:solidFill>
              </a:rPr>
              <a:t>Ex: "Seu contrato vence em 15 dias. Se não renovarmos, vira diária avulsa — 40% mais caro."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236976"/>
            <a:ext cx="5760720" cy="1024128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9184" y="3291840"/>
            <a:ext cx="566928" cy="31089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" y="33101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</a:rPr>
              <a:t>B5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0976" y="3291840"/>
            <a:ext cx="658368" cy="3108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" y="3310128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F0F1"/>
                </a:solidFill>
              </a:rPr>
              <a:t>Peso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91640" y="3319272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Upsell conectado à dor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66674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Identifica dor declarada e conecta produto específico a ela — sem oferta genérica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395020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A020"/>
                </a:solidFill>
              </a:rPr>
              <a:t>Ex: "Você mencionou problema com sinistro — nossa proteção total cobre sem franquia."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236976"/>
            <a:ext cx="5760720" cy="1024128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18504" y="3291840"/>
            <a:ext cx="566928" cy="31089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18504" y="33101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</a:rPr>
              <a:t>B6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0296" y="3291840"/>
            <a:ext cx="658368" cy="3108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0296" y="3310128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F0F1"/>
                </a:solidFill>
              </a:rPr>
              <a:t>Peso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0960" y="3319272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Urgência com fato verificável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366674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Cria urgência baseada em dado real e verificável — não promessa vaga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80" y="395020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A020"/>
                </a:solidFill>
              </a:rPr>
              <a:t>Ex: "Só tenho 2 HRVs disponíveis em Imperatriz para essa semana. Reservo agora?"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4352544"/>
            <a:ext cx="5760720" cy="1024128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9184" y="4407408"/>
            <a:ext cx="566928" cy="31089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9184" y="4425696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</a:rPr>
              <a:t>B7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0976" y="4407408"/>
            <a:ext cx="658368" cy="3108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0976" y="4425696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F0F1"/>
                </a:solidFill>
              </a:rPr>
              <a:t>Peso 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91640" y="4434840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Prometeu batalhar internamente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478231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Assume postura de aliado — vai lutar por desconto, prazo ou modelo para o cliente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506577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A020"/>
                </a:solidFill>
              </a:rPr>
              <a:t>Ex: "Vou ver internamente o que consigo para vocês na renovação, tá bom?"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63640" y="4352544"/>
            <a:ext cx="5760720" cy="1024128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18504" y="4407408"/>
            <a:ext cx="566928" cy="31089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18504" y="4425696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</a:rPr>
              <a:t>B8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40296" y="4407408"/>
            <a:ext cx="658368" cy="3108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40296" y="4425696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F0F1"/>
                </a:solidFill>
              </a:rPr>
              <a:t>Peso 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80960" y="4434840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Ligou proativamente por motivo comercial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55080" y="478231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Ligação iniciada pelo vendedor com intenção comercial clara — não só retorno de suporte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55080" y="506577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A020"/>
                </a:solidFill>
              </a:rPr>
              <a:t>Ex: "Liguei porque o contrato de vocês vence no próximo mês — queria alinhar a renovação."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5468112"/>
            <a:ext cx="5760720" cy="1024128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9184" y="5522976"/>
            <a:ext cx="566928" cy="31089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9184" y="5541264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</a:rPr>
              <a:t>B9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0976" y="5522976"/>
            <a:ext cx="658368" cy="3108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0976" y="5541264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F0F1"/>
                </a:solidFill>
              </a:rPr>
              <a:t>Peso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691640" y="5550408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Conhecimento pessoal além do contrato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58978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Demonstra conhecer algo sobre o cliente além dos dados do sistema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618134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A020"/>
                </a:solidFill>
              </a:rPr>
              <a:t>Ex: "Lembro que você falou de uma filial em Campinas — chegou a abrir?"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3640" y="5468112"/>
            <a:ext cx="5760720" cy="1024128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318504" y="5522976"/>
            <a:ext cx="566928" cy="31089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18504" y="5541264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</a:rPr>
              <a:t>B10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40296" y="5522976"/>
            <a:ext cx="658368" cy="3108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940296" y="5541264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F0F1"/>
                </a:solidFill>
              </a:rPr>
              <a:t>Peso 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80960" y="5550408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Perguntou sobre concorrente/frota própria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55080" y="58978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Sonda se o cliente tem veículos próprios, aluga de outras empresas ou avalia concorrentes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55080" y="618134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A020"/>
                </a:solidFill>
              </a:rPr>
              <a:t>Ex: "Vocês têm frota própria? Trabalham com outros fornecedores de veículo além da Localiza?"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"/>
            <a:ext cx="3200400" cy="32004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SLIDE OCULTO — DICIONÁRIO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38912"/>
            <a:ext cx="11640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Challenger CH1–CH7  ·  Tipos de Fechamento FC1–FC5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32688"/>
            <a:ext cx="11640312" cy="25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5577840" cy="117043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69848"/>
            <a:ext cx="594360" cy="3108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8813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088136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Custo oculto revelado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447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Revela custo não contabilizado (seguro, sinistro, taxa, km) ao comparar com concorrente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7830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A020"/>
                </a:solidFill>
              </a:rPr>
              <a:t>Ex: "A taxa deles é 20%, a nossa é 12%. No sinistro sem cobertura total, eles cobram tudo."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86000"/>
            <a:ext cx="5577840" cy="117043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350008"/>
            <a:ext cx="594360" cy="3108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6829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368296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ROI calculado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7249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Calcula e apresenta o retorno: locação vs frota própria ou alternativa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0632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A020"/>
                </a:solidFill>
              </a:rPr>
              <a:t>Ex: "Frota própria: IPVA+seguro+manutenção+depreciação = R$2.800/mês. Locação: R$2.100 com tudo."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66160"/>
            <a:ext cx="5577840" cy="117043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630168"/>
            <a:ext cx="594360" cy="3108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64845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648456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Urgência por regra real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0050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Cria urgência baseada em prazo, regra ou fato externo verificável — não promoção inventada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3434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A020"/>
                </a:solidFill>
              </a:rPr>
              <a:t>Ex: "A tabela de reajuste entra em julho. Fechando agora você fica no preço atual por 12 meses."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846319"/>
            <a:ext cx="5577840" cy="117043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910327"/>
            <a:ext cx="594360" cy="3108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928615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928615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Concorrente superado com dado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285231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Compara diretamente com concorrente citado usando dado concreto e verificável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623559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A020"/>
                </a:solidFill>
              </a:rPr>
              <a:t>Ex: "Movida cobra R$0,89/km excedente. Nós R$0,65. Para 3.000 km/mês = R$720 de diferença."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005840"/>
            <a:ext cx="5788152" cy="117043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1069848"/>
            <a:ext cx="594360" cy="3108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108813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1088136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Dor conectada ao produto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14447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Identifica dor não declarada e conecta explicitamente ao produto — B1+B5 combinados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17830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A020"/>
                </a:solidFill>
              </a:rPr>
              <a:t>Ex: "3 motoristas no mesmo carro gera risco de sinistro difuso — biometria resolve isso."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2286000"/>
            <a:ext cx="5788152" cy="117043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2350008"/>
            <a:ext cx="594360" cy="3108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236829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2368296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Antecipação de problema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27249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Alerta o cliente sobre problema que ainda não percebeu mas vai enfrentar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30632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A020"/>
                </a:solidFill>
              </a:rPr>
              <a:t>Ex: "Com esse crescimento de motoristas, o km vai estourar em setembro. Prefiro você saber agora."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3566160"/>
            <a:ext cx="5788152" cy="117043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3630168"/>
            <a:ext cx="594360" cy="3108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64845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3648456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Descoberta de necessidade não declarada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0050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Perguntas que revelam necessidade que o cliente não havia mencionado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43434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A020"/>
                </a:solidFill>
              </a:rPr>
              <a:t>Ex: "Vocês têm como saber qual colaborador rodou mais km no mês? [não] — isso seria útil?"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4864608"/>
            <a:ext cx="5788152" cy="1920240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1072" y="4937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020"/>
                </a:solidFill>
              </a:rPr>
              <a:t>TIPOS DE FECHAMENTO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91072" y="5321808"/>
            <a:ext cx="54864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91072" y="5340096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FC1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12864" y="53218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Compromisso duplo — Vendedor E cliente: próximo passo + data + horário definidos por ambos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91072" y="5614416"/>
            <a:ext cx="54864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91072" y="5632704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FC2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12864" y="56144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Próximo passo só do vendedor — Apenas o vendedor age — cliente não assume compromisso ativo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91072" y="5907024"/>
            <a:ext cx="548640" cy="2377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91072" y="5925312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FC3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12864" y="590702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Convite genérico — "Qualquer coisa me chama" — sem passo, sem compromisso, sem data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91072" y="6199632"/>
            <a:ext cx="548640" cy="2377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91072" y="6217920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FC4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12864" y="61996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Aberto — nada definido — Ligação encerra sem nenhum passo definido por ninguém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91072" y="6492240"/>
            <a:ext cx="548640" cy="23774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91072" y="6510528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FC5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12864" y="64922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Diretivo — Vendedor diz ao cliente o que fazer, com clareza e prazo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"/>
            <a:ext cx="3200400" cy="32004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SLIDE OCULTO — FRASES-MODELO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38912"/>
            <a:ext cx="11640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Frases-modelo por comportamento — para usar nas ligações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32688"/>
            <a:ext cx="11640312" cy="25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5760720" cy="17190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5760720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06984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B10 — ABRIR COM CONTEXTO DE FROTA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"Vocês têm frota própria além das locações com a gente?"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865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"Trabalham com outros fornecedores de veículo atualmente?"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2677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"Além dos contratos conosco, têm veículos próprios ou alugam de outras empresas?"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005840"/>
            <a:ext cx="5760720" cy="17190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005840"/>
            <a:ext cx="5760720" cy="38404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06984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B1 — DIAGNÓSTICO ANTES DO PREÇO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"Antes de te passar valores: qual cidade, a partir de quando e por quanto tempo?"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1865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"Qual modelo precisam? E a estimativa de km mensais?"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2677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"Quem vai usar — um colaborador fixo ou vários motoristas?"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880360"/>
            <a:ext cx="5760720" cy="17190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880360"/>
            <a:ext cx="576072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94436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CH1 — REVELAR CUSTO OCULTO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337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"A taxa de operação da Localiza é 12%. Você sabe qual é a deles?" [pausa]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37398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"No sinistro sem cobertura total, eles cobram tudo — com a gente está incluso."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1422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"O preço da diária parece menor, mas já conta o km excedente? Aqui vem incluso."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880360"/>
            <a:ext cx="5760720" cy="17190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880360"/>
            <a:ext cx="5760720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294436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FC1 — COMPROMISSO DUPLO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3337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"Eu te mando a proposta até as 18h hoje. Você me dá retorno até amanhã às 10h?"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37398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"Para garantir o veículo, preciso da CNH e CNPJ até as 16h. Consegue?"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41422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"Combinado: ligo quinta às 14h. Se quiser adiantar, meu WhatsApp está disponível."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754879"/>
            <a:ext cx="5760720" cy="17190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4754879"/>
            <a:ext cx="576072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4818887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SUPORTE → OPORTUNIDADE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52120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"Aproveitando que resolvi — vocês estão pensando em expandir a frota?"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5614415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"O contrato atual ainda atende a demanda de vocês ou a frota cresceu?"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601675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"Posso te mandar uma proposta de telemetria? R$50/veículo — controla o uso."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4754879"/>
            <a:ext cx="5760720" cy="17190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4754879"/>
            <a:ext cx="5760720" cy="38404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3368" y="4818887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REABERTURA DE CADASTRO FRIO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3368" y="52120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"Cadastro ativo há X meses sem uso — o que aconteceu nesse período?"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5614415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"Vocês resolveram a demanda internamente ou foram para outra empresa?"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3368" y="601675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"Que tipo de veículo estariam precisando agora se fossem locar?"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