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Ligações</c:v>
                </c:pt>
              </c:strCache>
            </c:strRef>
          </c:tx>
          <c:dPt>
            <c:idx val="0"/>
            <c:spPr>
              <a:solidFill>
                <a:srgbClr val="78DE1F"/>
              </a:solidFill>
            </c:spPr>
          </c:dPt>
          <c:dPt>
            <c:idx val="1"/>
            <c:spPr>
              <a:solidFill>
                <a:srgbClr val="9AA5B4"/>
              </a:solidFill>
            </c:spPr>
          </c:dPt>
          <c:dPt>
            <c:idx val="2"/>
            <c:spPr>
              <a:solidFill>
                <a:srgbClr val="9AA5B4"/>
              </a:solidFill>
            </c:spPr>
          </c:dPt>
          <c:dPt>
            <c:idx val="3"/>
            <c:spPr>
              <a:solidFill>
                <a:srgbClr val="D92020"/>
              </a:solidFill>
            </c:spPr>
          </c:dPt>
          <c:cat>
            <c:strRef>
              <c:f>Sheet1!$A$2:$A$5</c:f>
              <c:strCache>
                <c:ptCount val="4"/>
                <c:pt idx="0">
                  <c:v>ALTO (≥20)</c:v>
                </c:pt>
                <c:pt idx="1">
                  <c:v>MÉDIO (13-19)</c:v>
                </c:pt>
                <c:pt idx="2">
                  <c:v>BAIXO (7-12)</c:v>
                </c:pt>
                <c:pt idx="3">
                  <c:v>SEM POTENCIAL (0-6)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368</c:v>
                </c:pt>
                <c:pt idx="1">
                  <c:v>1502</c:v>
                </c:pt>
                <c:pt idx="2">
                  <c:v>2480</c:v>
                </c:pt>
                <c:pt idx="3">
                  <c:v>2273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00341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418"/>
                </a:solidFill>
                <a:latin typeface="Calibri"/>
              </a:rPr>
              <a:t>Inteligência Comercial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Sumário Executivo — Localiza Frota PJ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78DE1F"/>
                </a:solidFill>
                <a:latin typeface="Calibri"/>
              </a:rPr>
              <a:t>•  </a:t>
            </a:r>
            <a:r>
              <a:rPr b="1" sz="1300">
                <a:solidFill>
                  <a:srgbClr val="003418"/>
                </a:solidFill>
                <a:latin typeface="Calibri"/>
              </a:rPr>
              <a:t>Ligações analisadas: </a:t>
            </a:r>
            <a:r>
              <a:rPr sz="1300">
                <a:solidFill>
                  <a:srgbClr val="003418"/>
                </a:solidFill>
                <a:latin typeface="Calibri"/>
              </a:rPr>
              <a:t>1.275 completas (100% IA) — base combinada com novo lote: 6.623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78DE1F"/>
                </a:solidFill>
                <a:latin typeface="Calibri"/>
              </a:rPr>
              <a:t>•  </a:t>
            </a:r>
            <a:r>
              <a:rPr b="1" sz="1300">
                <a:solidFill>
                  <a:srgbClr val="003418"/>
                </a:solidFill>
                <a:latin typeface="Calibri"/>
              </a:rPr>
              <a:t>Taxa de fechamento: </a:t>
            </a:r>
            <a:r>
              <a:rPr sz="1300">
                <a:solidFill>
                  <a:srgbClr val="003418"/>
                </a:solidFill>
                <a:latin typeface="Calibri"/>
              </a:rPr>
              <a:t>7,0% (89 fechamentos em 1.275 ligações)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78DE1F"/>
                </a:solidFill>
                <a:latin typeface="Calibri"/>
              </a:rPr>
              <a:t>•  </a:t>
            </a:r>
            <a:r>
              <a:rPr b="1" sz="1300">
                <a:solidFill>
                  <a:srgbClr val="003418"/>
                </a:solidFill>
                <a:latin typeface="Calibri"/>
              </a:rPr>
              <a:t>Oportunidades perdidas estimadas: </a:t>
            </a:r>
            <a:r>
              <a:rPr sz="1300">
                <a:solidFill>
                  <a:srgbClr val="003418"/>
                </a:solidFill>
                <a:latin typeface="Calibri"/>
              </a:rPr>
              <a:t>R$28.490/mês (OP6 + OP7 + OP1 — estimativa da IA, não é receita confirmada)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78DE1F"/>
                </a:solidFill>
                <a:latin typeface="Calibri"/>
              </a:rPr>
              <a:t>•  </a:t>
            </a:r>
            <a:r>
              <a:rPr b="1" sz="1300">
                <a:solidFill>
                  <a:srgbClr val="003418"/>
                </a:solidFill>
                <a:latin typeface="Calibri"/>
              </a:rPr>
              <a:t>Ligações sem intenção comercial: </a:t>
            </a:r>
            <a:r>
              <a:rPr sz="1300">
                <a:solidFill>
                  <a:srgbClr val="003418"/>
                </a:solidFill>
                <a:latin typeface="Calibri"/>
              </a:rPr>
              <a:t>56,7% (728 de 1.275) — maior gap identificado na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18"/>
                </a:solidFill>
                <a:latin typeface="Calibri"/>
              </a:rPr>
              <a:t>Resumo do 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6217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b="1" sz="1050">
                <a:solidFill>
                  <a:srgbClr val="4A4A4A"/>
                </a:solidFill>
                <a:latin typeface="Calibri"/>
              </a:rPr>
              <a:t>Volume e escopo</a:t>
            </a:r>
            <a:r>
              <a:rPr sz="1050">
                <a:solidFill>
                  <a:srgbClr val="4A4A4A"/>
                </a:solidFill>
                <a:latin typeface="Calibri"/>
              </a:rPr>
              <a:t/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-  </a:t>
            </a:r>
            <a:r>
              <a:rPr sz="1050">
                <a:solidFill>
                  <a:srgbClr val="4A4A4A"/>
                </a:solidFill>
                <a:latin typeface="Calibri"/>
              </a:rPr>
              <a:t>1.275 ligações originais — análise 100% completa (23/23 batches)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-  </a:t>
            </a:r>
            <a:r>
              <a:rPr sz="1050">
                <a:solidFill>
                  <a:srgbClr val="4A4A4A"/>
                </a:solidFill>
                <a:latin typeface="Calibri"/>
              </a:rPr>
              <a:t>+5.348 ligações novas recebidas 01/07 — scoring completo, IA em andamento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b="1" sz="1050">
                <a:solidFill>
                  <a:srgbClr val="4A4A4A"/>
                </a:solidFill>
                <a:latin typeface="Calibri"/>
              </a:rPr>
              <a:t>Comportamentos-chave</a:t>
            </a:r>
            <a:r>
              <a:rPr sz="1050">
                <a:solidFill>
                  <a:srgbClr val="4A4A4A"/>
                </a:solidFill>
                <a:latin typeface="Calibri"/>
              </a:rPr>
              <a:t/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-  </a:t>
            </a:r>
            <a:r>
              <a:rPr sz="1050">
                <a:solidFill>
                  <a:srgbClr val="4A4A4A"/>
                </a:solidFill>
                <a:latin typeface="Calibri"/>
              </a:rPr>
              <a:t>B5 (upsell conectado à dor): +7,4pp de correlação com fechamento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-  </a:t>
            </a:r>
            <a:r>
              <a:rPr sz="1050">
                <a:solidFill>
                  <a:srgbClr val="4A4A4A"/>
                </a:solidFill>
                <a:latin typeface="Calibri"/>
              </a:rPr>
              <a:t>B6 (urgência verificável): +2,5pp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-  </a:t>
            </a:r>
            <a:r>
              <a:rPr sz="1050">
                <a:solidFill>
                  <a:srgbClr val="4A4A4A"/>
                </a:solidFill>
                <a:latin typeface="Calibri"/>
              </a:rPr>
              <a:t>B10 (perguntou sobre concorrente): correlação NEGATIVA (−13,1pp) — hipótese revisada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b="1" sz="1050">
                <a:solidFill>
                  <a:srgbClr val="4A4A4A"/>
                </a:solidFill>
                <a:latin typeface="Calibri"/>
              </a:rPr>
              <a:t>Modelo validado em escala</a:t>
            </a:r>
            <a:r>
              <a:rPr sz="1050">
                <a:solidFill>
                  <a:srgbClr val="4A4A4A"/>
                </a:solidFill>
                <a:latin typeface="Calibri"/>
              </a:rPr>
              <a:t/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-  </a:t>
            </a:r>
            <a:r>
              <a:rPr sz="1050">
                <a:solidFill>
                  <a:srgbClr val="4A4A4A"/>
                </a:solidFill>
                <a:latin typeface="Calibri"/>
              </a:rPr>
              <a:t>Distribuição de potencial praticamente idêntica nas duas bases (6,6% vs 5,6% ALTO)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18"/>
                </a:solidFill>
                <a:latin typeface="Calibri"/>
              </a:rPr>
              <a:t>Destaques adicionais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182112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sz="1050">
                <a:solidFill>
                  <a:srgbClr val="4A4A4A"/>
                </a:solidFill>
                <a:latin typeface="Calibri"/>
              </a:rPr>
              <a:t>9 hipóteses testadas — 3 confirmadas, 1 revisada, 4 novas, 1 em validação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sz="1050">
                <a:solidFill>
                  <a:srgbClr val="4A4A4A"/>
                </a:solidFill>
                <a:latin typeface="Calibri"/>
              </a:rPr>
              <a:t>376 ligações com sinal de churn ou expansão de frota (base combinada)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sz="1050">
                <a:solidFill>
                  <a:srgbClr val="4A4A4A"/>
                </a:solidFill>
                <a:latin typeface="Calibri"/>
              </a:rPr>
              <a:t>5 clientes críticos priorizados para ação imediata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sz="1050">
                <a:solidFill>
                  <a:srgbClr val="4A4A4A"/>
                </a:solidFill>
                <a:latin typeface="Calibri"/>
              </a:rPr>
              <a:t>44,8% das ligações fecham sem data ("qualquer coisa me chama") — maior oportunidade de processo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>
                <a:solidFill>
                  <a:srgbClr val="018444"/>
                </a:solidFill>
                <a:latin typeface="Calibri"/>
              </a:rPr>
              <a:t>•  </a:t>
            </a:r>
            <a:r>
              <a:rPr sz="1050">
                <a:solidFill>
                  <a:srgbClr val="4A4A4A"/>
                </a:solidFill>
                <a:latin typeface="Calibri"/>
              </a:rPr>
              <a:t>PM2 (promessa via WhatsApp) = 56,2% de todas as promessas, quase nenhuma com 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18"/>
                </a:solidFill>
                <a:latin typeface="Calibri"/>
              </a:rPr>
              <a:t>Prioridades e 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618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018444"/>
                </a:solidFill>
                <a:latin typeface="Calibri"/>
              </a:rPr>
              <a:t>✓  </a:t>
            </a:r>
            <a:r>
              <a:rPr sz="1050" b="1">
                <a:solidFill>
                  <a:srgbClr val="003418"/>
                </a:solidFill>
                <a:latin typeface="Calibri"/>
              </a:rPr>
              <a:t>Ação imediata: </a:t>
            </a:r>
            <a:r>
              <a:rPr sz="1050">
                <a:solidFill>
                  <a:srgbClr val="4A4A4A"/>
                </a:solidFill>
                <a:latin typeface="Calibri"/>
              </a:rPr>
              <a:t>ligar para os 5 clientes críticos — hoje</a:t>
            </a:r>
          </a:p>
          <a:p>
            <a:pPr>
              <a:lnSpc>
                <a:spcPct val="120000"/>
              </a:lnSpc>
            </a:pPr>
            <a:r>
              <a:rPr sz="1050" b="1">
                <a:solidFill>
                  <a:srgbClr val="018444"/>
                </a:solidFill>
                <a:latin typeface="Calibri"/>
              </a:rPr>
              <a:t>✓  </a:t>
            </a:r>
            <a:r>
              <a:rPr sz="1050" b="1">
                <a:solidFill>
                  <a:srgbClr val="003418"/>
                </a:solidFill>
                <a:latin typeface="Calibri"/>
              </a:rPr>
              <a:t>Operacional: </a:t>
            </a:r>
            <a:r>
              <a:rPr sz="1050">
                <a:solidFill>
                  <a:srgbClr val="4A4A4A"/>
                </a:solidFill>
                <a:latin typeface="Calibri"/>
              </a:rPr>
              <a:t>escalar biometria para produto/ops — esta semana</a:t>
            </a:r>
          </a:p>
          <a:p>
            <a:pPr>
              <a:lnSpc>
                <a:spcPct val="120000"/>
              </a:lnSpc>
            </a:pPr>
            <a:r>
              <a:rPr sz="1050" b="1">
                <a:solidFill>
                  <a:srgbClr val="018444"/>
                </a:solidFill>
                <a:latin typeface="Calibri"/>
              </a:rPr>
              <a:t>✓  </a:t>
            </a:r>
            <a:r>
              <a:rPr sz="1050" b="1">
                <a:solidFill>
                  <a:srgbClr val="003418"/>
                </a:solidFill>
                <a:latin typeface="Calibri"/>
              </a:rPr>
              <a:t>Treinamento: </a:t>
            </a:r>
            <a:r>
              <a:rPr sz="1050">
                <a:solidFill>
                  <a:srgbClr val="4A4A4A"/>
                </a:solidFill>
                <a:latin typeface="Calibri"/>
              </a:rPr>
              <a:t>CH1 e B5 (upsell conectado à dor) — 2 semanas</a:t>
            </a:r>
          </a:p>
          <a:p>
            <a:pPr>
              <a:lnSpc>
                <a:spcPct val="120000"/>
              </a:lnSpc>
            </a:pPr>
            <a:r>
              <a:rPr sz="1050" b="1">
                <a:solidFill>
                  <a:srgbClr val="018444"/>
                </a:solidFill>
                <a:latin typeface="Calibri"/>
              </a:rPr>
              <a:t>✓  </a:t>
            </a:r>
            <a:r>
              <a:rPr sz="1050" b="1">
                <a:solidFill>
                  <a:srgbClr val="003418"/>
                </a:solidFill>
                <a:latin typeface="Calibri"/>
              </a:rPr>
              <a:t>Em andamento: </a:t>
            </a:r>
            <a:r>
              <a:rPr sz="1050">
                <a:solidFill>
                  <a:srgbClr val="4A4A4A"/>
                </a:solidFill>
                <a:latin typeface="Calibri"/>
              </a:rPr>
              <a:t>concluir análise IA do novo lote (5.348 ligações)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418"/>
                </a:solidFill>
                <a:latin typeface="Calibri"/>
              </a:rPr>
              <a:t>Distribuição de Potencial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Scoring automático — base combinada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O scoring automático identificou que apenas 5,6% das 6.623 ligações combinadas têm ALTO potencial comercial (score ≥ 20) — validado de forma consistente entre a base original (6,6%) e o novo lote (5,3%), confirmando que o padrão não é ruído estatístico. Mais de dois terços da base (71,7%) está em BAIXO potencial ou SEM POTENCIAL, sinalizando onde o esforço comercial está sendo desperdiçado.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418"/>
                </a:solidFill>
                <a:latin typeface="Calibri"/>
              </a:rPr>
              <a:t>Distribuição de Potencial Comercial — 6.623 ligações combinadas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645920" y="2606040"/>
          <a:ext cx="88696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